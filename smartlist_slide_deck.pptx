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9" r:id="rId3"/>
    <p:sldId id="270" r:id="rId4"/>
    <p:sldId id="271" r:id="rId5"/>
    <p:sldId id="257" r:id="rId6"/>
    <p:sldId id="258" r:id="rId7"/>
    <p:sldId id="272" r:id="rId8"/>
    <p:sldId id="259" r:id="rId9"/>
    <p:sldId id="260" r:id="rId10"/>
    <p:sldId id="261" r:id="rId11"/>
    <p:sldId id="268" r:id="rId12"/>
    <p:sldId id="273" r:id="rId13"/>
    <p:sldId id="262" r:id="rId14"/>
    <p:sldId id="263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7BB946-6800-F985-C395-79CB865D8F50}" v="1102" dt="2026-01-23T11:02:28.577"/>
    <p1510:client id="{59EFE1DB-77D3-40F6-04B6-197B0E9C735C}" v="130" dt="2026-01-23T06:44:14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71040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Smart List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500" dirty="0"/>
              <a:t>Cross-sell ML </a:t>
            </a:r>
            <a:r>
              <a:rPr lang="en-US" sz="3500" err="1"/>
              <a:t>Predicion</a:t>
            </a:r>
            <a:r>
              <a:rPr lang="en-US" sz="3500" dirty="0"/>
              <a:t> Pipeline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DF106-D2C9-8463-9A1A-B63C6D596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E2912-8650-9AED-9129-E807954A5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Recommend the most likely next product category for clients with exactly single product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489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D1480-27BD-0BA4-6450-3EEBFDA3A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Highlights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6250D-61D9-CCE9-142B-16A32ECBC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Data Extraction and Preparation</a:t>
            </a:r>
          </a:p>
          <a:p>
            <a:endParaRPr lang="en-US" dirty="0"/>
          </a:p>
          <a:p>
            <a:r>
              <a:rPr lang="en-US" dirty="0"/>
              <a:t>Model Training </a:t>
            </a:r>
          </a:p>
          <a:p>
            <a:endParaRPr lang="en-US" dirty="0"/>
          </a:p>
          <a:p>
            <a:r>
              <a:rPr lang="en-US" dirty="0"/>
              <a:t>Monthly Pipeline</a:t>
            </a:r>
          </a:p>
          <a:p>
            <a:endParaRPr lang="en-US" dirty="0"/>
          </a:p>
          <a:p>
            <a:r>
              <a:rPr lang="en-US" dirty="0"/>
              <a:t>How it helps in cross-selling</a:t>
            </a:r>
          </a:p>
        </p:txBody>
      </p:sp>
    </p:spTree>
    <p:extLst>
      <p:ext uri="{BB962C8B-B14F-4D97-AF65-F5344CB8AC3E}">
        <p14:creationId xmlns:p14="http://schemas.microsoft.com/office/powerpoint/2010/main" val="4235773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6CD95-5D76-58E0-C6FC-29928E80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90603"/>
          </a:xfrm>
        </p:spPr>
        <p:txBody>
          <a:bodyPr/>
          <a:lstStyle/>
          <a:p>
            <a:r>
              <a:rPr lang="en-US" dirty="0"/>
              <a:t>Data Extraction and Preparation</a:t>
            </a:r>
          </a:p>
        </p:txBody>
      </p:sp>
    </p:spTree>
    <p:extLst>
      <p:ext uri="{BB962C8B-B14F-4D97-AF65-F5344CB8AC3E}">
        <p14:creationId xmlns:p14="http://schemas.microsoft.com/office/powerpoint/2010/main" val="740500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9F97E-BD81-6463-7488-82086FD30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the data is prepared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04BCF-3266-1DBE-6D74-83EC4A512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What We Look At: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 Product purchases the clients have made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 When they purchased each product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 Their financial profile 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 Their relationship with us (how long, AUM)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 Their demographics</a:t>
            </a:r>
            <a:endParaRPr lang="en-US" sz="2400" dirty="0"/>
          </a:p>
          <a:p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The Data Source: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dl_tenants_daas.us_wealth_manaement.wealth_management_client_metrics table - Databricks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18055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30C0F-FA1B-87F3-9E83-3F8CE9C87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Organizing Client Information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2EA5D-5D4E-4420-90EB-1AF373E54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ea typeface="+mn-lt"/>
                <a:cs typeface="+mn-lt"/>
              </a:rPr>
              <a:t>Categorizing Products: 7 product categories from </a:t>
            </a:r>
            <a:r>
              <a:rPr lang="en-US" sz="2400" err="1">
                <a:ea typeface="+mn-lt"/>
                <a:cs typeface="+mn-lt"/>
              </a:rPr>
              <a:t>prod_lob</a:t>
            </a:r>
            <a:r>
              <a:rPr lang="en-US" sz="2400" dirty="0">
                <a:ea typeface="+mn-lt"/>
                <a:cs typeface="+mn-lt"/>
              </a:rPr>
              <a:t>, sub_product_level_1 and sub_product_level_2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Building Client Purchase History:</a:t>
            </a: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 - Example: Retirement → Life Insurance → Investments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 - Focus on product transitions</a:t>
            </a:r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Only use complete, accurate information</a:t>
            </a:r>
            <a:endParaRPr lang="en-US" sz="2400" dirty="0"/>
          </a:p>
          <a:p>
            <a:endParaRPr lang="en-US" sz="2400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Focus on active clients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50376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1589B-AB5A-0EAF-30EB-CFD0229D1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1243"/>
          </a:xfrm>
        </p:spPr>
        <p:txBody>
          <a:bodyPr/>
          <a:lstStyle/>
          <a:p>
            <a:r>
              <a:rPr lang="en-US" dirty="0"/>
              <a:t>Model Training</a:t>
            </a:r>
          </a:p>
        </p:txBody>
      </p:sp>
    </p:spTree>
    <p:extLst>
      <p:ext uri="{BB962C8B-B14F-4D97-AF65-F5344CB8AC3E}">
        <p14:creationId xmlns:p14="http://schemas.microsoft.com/office/powerpoint/2010/main" val="3201014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131AE-37C0-9061-BE4C-746FDA540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05"/>
            <a:ext cx="10515600" cy="1142683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How the Model Learns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A1C9A-907A-54AD-FFB7-E14728E49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8585"/>
            <a:ext cx="10515600" cy="493045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300">
                <a:ea typeface="+mn-lt"/>
                <a:cs typeface="+mn-lt"/>
              </a:rPr>
              <a:t>Looks at client patterns, sequences and profiles</a:t>
            </a:r>
            <a:endParaRPr lang="en-US" sz="2300"/>
          </a:p>
          <a:p>
            <a:pPr lvl="1">
              <a:buFont typeface="Wingdings" panose="020B0604020202020204" pitchFamily="34" charset="0"/>
              <a:buChar char="§"/>
            </a:pPr>
            <a:r>
              <a:rPr lang="en-US" sz="2000">
                <a:ea typeface="+mn-lt"/>
                <a:cs typeface="+mn-lt"/>
              </a:rPr>
              <a:t>Patterns: "Clients aged 50-65 with Retirement often need Life Insurance next"</a:t>
            </a:r>
          </a:p>
          <a:p>
            <a:pPr lvl="1">
              <a:buFont typeface="Wingdings" panose="020B0604020202020204" pitchFamily="34" charset="0"/>
              <a:buChar char="§"/>
            </a:pPr>
            <a:r>
              <a:rPr lang="en-US" sz="2000">
                <a:ea typeface="+mn-lt"/>
                <a:cs typeface="+mn-lt"/>
              </a:rPr>
              <a:t>Sequences: "After Investments, clients frequently add Retirement planning"</a:t>
            </a:r>
          </a:p>
          <a:p>
            <a:pPr lvl="1">
              <a:buFont typeface="Wingdings" panose="020B0604020202020204" pitchFamily="34" charset="0"/>
              <a:buChar char="§"/>
            </a:pPr>
            <a:r>
              <a:rPr lang="en-US" sz="2000">
                <a:ea typeface="+mn-lt"/>
                <a:cs typeface="+mn-lt"/>
              </a:rPr>
              <a:t>Profiles: "High-asset clients typically expand into Network Products"</a:t>
            </a:r>
            <a:endParaRPr lang="en-US" sz="2000"/>
          </a:p>
          <a:p>
            <a:pPr lvl="1">
              <a:buFont typeface="Wingdings" panose="020B0604020202020204" pitchFamily="34" charset="0"/>
              <a:buChar char="§"/>
            </a:pPr>
            <a:endParaRPr lang="en-US" sz="2000">
              <a:ea typeface="+mn-lt"/>
              <a:cs typeface="+mn-lt"/>
            </a:endParaRPr>
          </a:p>
          <a:p>
            <a:r>
              <a:rPr lang="en-US" sz="2300">
                <a:ea typeface="+mn-lt"/>
                <a:cs typeface="+mn-lt"/>
              </a:rPr>
              <a:t>Identifies: "When Client A was in this situation, what did they buy next?"</a:t>
            </a:r>
          </a:p>
          <a:p>
            <a:endParaRPr lang="en-US" sz="2300">
              <a:ea typeface="+mn-lt"/>
              <a:cs typeface="+mn-lt"/>
            </a:endParaRPr>
          </a:p>
          <a:p>
            <a:r>
              <a:rPr lang="en-US" sz="2300">
                <a:ea typeface="+mn-lt"/>
                <a:cs typeface="+mn-lt"/>
              </a:rPr>
              <a:t>Finds common patterns across successful relationships</a:t>
            </a:r>
          </a:p>
          <a:p>
            <a:endParaRPr lang="en-US" sz="2300">
              <a:ea typeface="+mn-lt"/>
              <a:cs typeface="+mn-lt"/>
            </a:endParaRPr>
          </a:p>
          <a:p>
            <a:r>
              <a:rPr lang="en-US" sz="2300">
                <a:ea typeface="+mn-lt"/>
                <a:cs typeface="+mn-lt"/>
              </a:rPr>
              <a:t>Learns which factors matter most (age, products, assets, etc.)</a:t>
            </a:r>
            <a:endParaRPr lang="en-US" sz="2300"/>
          </a:p>
          <a:p>
            <a:pPr marL="0" indent="0">
              <a:buNone/>
            </a:pPr>
            <a:endParaRPr lang="en-US" sz="2300">
              <a:ea typeface="+mn-lt"/>
              <a:cs typeface="+mn-lt"/>
            </a:endParaRPr>
          </a:p>
          <a:p>
            <a:r>
              <a:rPr lang="en-US" sz="2300">
                <a:ea typeface="+mn-lt"/>
                <a:cs typeface="+mn-lt"/>
              </a:rPr>
              <a:t>The trained model is deployed in Databricks</a:t>
            </a:r>
            <a:endParaRPr lang="en-US" sz="2300"/>
          </a:p>
          <a:p>
            <a:pPr marL="0" indent="0">
              <a:buNone/>
            </a:pPr>
            <a:endParaRPr lang="en-US" sz="25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50949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72385-D916-20E2-9EBC-C6E74102C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What Information the Model Uses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7D3CC-9CD8-0513-21BD-A293F8C0F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797" y="1825625"/>
            <a:ext cx="292060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Client Purchase History:</a:t>
            </a:r>
            <a:endParaRPr lang="en-US" sz="2000" dirty="0"/>
          </a:p>
          <a:p>
            <a:pPr marL="0" indent="0">
              <a:buNone/>
            </a:pPr>
            <a:endParaRPr lang="en-US" sz="20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 What products they've bought before</a:t>
            </a:r>
            <a:endParaRPr lang="en-US" sz="2000" dirty="0"/>
          </a:p>
          <a:p>
            <a:endParaRPr lang="en-US" sz="20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 The order they bought them in</a:t>
            </a:r>
          </a:p>
          <a:p>
            <a:endParaRPr lang="en-US" sz="20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 How frequently they engage with different types of products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B58E22-F8C0-3EF8-0F89-08BC84D506B9}"/>
              </a:ext>
            </a:extLst>
          </p:cNvPr>
          <p:cNvSpPr txBox="1">
            <a:spLocks/>
          </p:cNvSpPr>
          <p:nvPr/>
        </p:nvSpPr>
        <p:spPr>
          <a:xfrm>
            <a:off x="4646637" y="1825625"/>
            <a:ext cx="2920609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Client Profile:</a:t>
            </a:r>
            <a:endParaRPr lang="en-US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 Age and life stage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/>
              <a:buChar char="•"/>
            </a:pPr>
            <a:r>
              <a:rPr lang="en-US" sz="2000" dirty="0"/>
              <a:t> Total assets and account values</a:t>
            </a:r>
          </a:p>
          <a:p>
            <a:pPr>
              <a:buFont typeface="Arial"/>
            </a:pPr>
            <a:endParaRPr lang="en-US" sz="2000" dirty="0"/>
          </a:p>
          <a:p>
            <a:r>
              <a:rPr lang="en-US" sz="2000" dirty="0"/>
              <a:t> Investment preferences (stocks, bonds, annuities)</a:t>
            </a:r>
          </a:p>
          <a:p>
            <a:endParaRPr lang="en-US" sz="2000" dirty="0"/>
          </a:p>
          <a:p>
            <a:r>
              <a:rPr lang="en-US" sz="2000" dirty="0"/>
              <a:t> Client segment and relationship tier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432170-1E25-DE56-9DE7-0798B194BF23}"/>
              </a:ext>
            </a:extLst>
          </p:cNvPr>
          <p:cNvSpPr txBox="1">
            <a:spLocks/>
          </p:cNvSpPr>
          <p:nvPr/>
        </p:nvSpPr>
        <p:spPr>
          <a:xfrm>
            <a:off x="8212797" y="1825625"/>
            <a:ext cx="2920609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Relationship Factors:</a:t>
            </a:r>
            <a:endParaRPr lang="en-US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 Preferred channel (advisor, direct, etc.)</a:t>
            </a:r>
            <a:endParaRPr lang="en-US" dirty="0"/>
          </a:p>
          <a:p>
            <a:endParaRPr lang="en-US" sz="2000" dirty="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202871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29F53-C0FD-1111-E621-F0B8EE9A6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How the Model Makes Predictions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2740F-68EE-7BD3-CF11-63E89003A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The Process:</a:t>
            </a:r>
          </a:p>
          <a:p>
            <a:r>
              <a:rPr lang="en-US" sz="2600">
                <a:ea typeface="+mn-lt"/>
                <a:cs typeface="+mn-lt"/>
              </a:rPr>
              <a:t>Input: Client's complete profile and history</a:t>
            </a:r>
            <a:endParaRPr lang="en-US" sz="2600"/>
          </a:p>
          <a:p>
            <a:r>
              <a:rPr lang="en-US" sz="2600">
                <a:ea typeface="+mn-lt"/>
                <a:cs typeface="+mn-lt"/>
              </a:rPr>
              <a:t>Analysis: Finds patterns to that of similar clients</a:t>
            </a:r>
            <a:endParaRPr lang="en-US" sz="2600"/>
          </a:p>
          <a:p>
            <a:r>
              <a:rPr lang="en-US" sz="2600">
                <a:ea typeface="+mn-lt"/>
                <a:cs typeface="+mn-lt"/>
              </a:rPr>
              <a:t>Output: Recommends most likely next product with confidence score and talking points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Why this works:</a:t>
            </a:r>
          </a:p>
          <a:p>
            <a:r>
              <a:rPr lang="en-US" sz="2600">
                <a:ea typeface="+mn-lt"/>
                <a:cs typeface="+mn-lt"/>
              </a:rPr>
              <a:t>Based on learned patterns</a:t>
            </a:r>
            <a:endParaRPr lang="en-US" sz="2600"/>
          </a:p>
          <a:p>
            <a:r>
              <a:rPr lang="en-US" sz="2600">
                <a:ea typeface="+mn-lt"/>
                <a:cs typeface="+mn-lt"/>
              </a:rPr>
              <a:t>Considers multiple factors simultaneously</a:t>
            </a:r>
          </a:p>
          <a:p>
            <a:endParaRPr lang="en-US" sz="2600"/>
          </a:p>
          <a:p>
            <a:endParaRPr lang="en-US" sz="2600"/>
          </a:p>
          <a:p>
            <a:endParaRPr lang="en-US" sz="2600"/>
          </a:p>
          <a:p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285556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059F2-B857-1A0A-390F-6952F67EB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D9BCD-7006-67A9-02C9-274CDD6E0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Natural language talking points are generated based on the SHAP analysis for clients</a:t>
            </a:r>
          </a:p>
          <a:p>
            <a:endParaRPr lang="en-US" dirty="0"/>
          </a:p>
          <a:p>
            <a:r>
              <a:rPr lang="en-US" dirty="0"/>
              <a:t>Client demographics are joined to the predictions' table</a:t>
            </a:r>
          </a:p>
        </p:txBody>
      </p:sp>
    </p:spTree>
    <p:extLst>
      <p:ext uri="{BB962C8B-B14F-4D97-AF65-F5344CB8AC3E}">
        <p14:creationId xmlns:p14="http://schemas.microsoft.com/office/powerpoint/2010/main" val="4203612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F8A5C-E860-5BC9-53E4-F695E56A1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1403"/>
          </a:xfrm>
        </p:spPr>
        <p:txBody>
          <a:bodyPr/>
          <a:lstStyle/>
          <a:p>
            <a:r>
              <a:rPr lang="en-US" dirty="0"/>
              <a:t>Monthly Pipeline</a:t>
            </a:r>
          </a:p>
        </p:txBody>
      </p:sp>
    </p:spTree>
    <p:extLst>
      <p:ext uri="{BB962C8B-B14F-4D97-AF65-F5344CB8AC3E}">
        <p14:creationId xmlns:p14="http://schemas.microsoft.com/office/powerpoint/2010/main" val="1856710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CE0A7-2605-4BDF-7948-96E320232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happening every month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AD0A4-4D6C-86F4-F105-290C188AC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On the 12th of every month clients with a single product and </a:t>
            </a:r>
            <a:r>
              <a:rPr lang="en-US" dirty="0" err="1"/>
              <a:t>branchoffice_code</a:t>
            </a:r>
            <a:r>
              <a:rPr lang="en-US" dirty="0"/>
              <a:t> 83 are filtered</a:t>
            </a:r>
          </a:p>
          <a:p>
            <a:endParaRPr lang="en-US" dirty="0"/>
          </a:p>
          <a:p>
            <a:r>
              <a:rPr lang="en-US" dirty="0"/>
              <a:t>These records are passed through the trained ML model. Predictions are done and talking points, based on SHAP, are generated.</a:t>
            </a:r>
          </a:p>
          <a:p>
            <a:endParaRPr lang="en-US" dirty="0"/>
          </a:p>
          <a:p>
            <a:r>
              <a:rPr lang="en-US" dirty="0"/>
              <a:t>Predictions and talking points are saved in the table eda_smartlist.us_wealth_management_smartlist.standalone_tp_predictions_single_policy</a:t>
            </a:r>
          </a:p>
        </p:txBody>
      </p:sp>
    </p:spTree>
    <p:extLst>
      <p:ext uri="{BB962C8B-B14F-4D97-AF65-F5344CB8AC3E}">
        <p14:creationId xmlns:p14="http://schemas.microsoft.com/office/powerpoint/2010/main" val="1525747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08A6-2786-BD07-7F14-5AF5EB274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How This Helps Us Cross-Sell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FA173-8A6D-CCA3-0F64-B3C02BD96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Recommended Product: What they're most likely to need next based on patterns in the data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Talking Points: What to say to the client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The Advantage: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Save Time: No manual analysis needed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Increase Success Rate: Based on patterns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Better Conversations: Data-backed reasons for suggestions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290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0FDEF-5176-6CD8-FFA1-FE6A2E55B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964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868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Smart List</vt:lpstr>
      <vt:lpstr>Objective</vt:lpstr>
      <vt:lpstr>Highlights </vt:lpstr>
      <vt:lpstr>Data Extraction and Preparation</vt:lpstr>
      <vt:lpstr>How the data is prepared</vt:lpstr>
      <vt:lpstr>Organizing Client Information</vt:lpstr>
      <vt:lpstr>Model Training</vt:lpstr>
      <vt:lpstr>How the Model Learns</vt:lpstr>
      <vt:lpstr>What Information the Model Uses</vt:lpstr>
      <vt:lpstr>How the Model Makes Predictions</vt:lpstr>
      <vt:lpstr>Post- predictions</vt:lpstr>
      <vt:lpstr>Monthly Pipeline</vt:lpstr>
      <vt:lpstr>What is happening every month</vt:lpstr>
      <vt:lpstr>How This Helps Us Cross-Sell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184</cp:revision>
  <dcterms:created xsi:type="dcterms:W3CDTF">2026-01-23T06:34:56Z</dcterms:created>
  <dcterms:modified xsi:type="dcterms:W3CDTF">2026-01-23T11:10:48Z</dcterms:modified>
</cp:coreProperties>
</file>