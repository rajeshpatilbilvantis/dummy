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E1EEA-32B8-550E-9E31-C2771982ACD0}" v="1452" dt="2026-01-28T06:18:05.342"/>
    <p1510:client id="{CEF75846-2785-9B3B-3766-848071BC07F2}" v="554" dt="2026-01-28T05:18:14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1371600"/>
            <a:ext cx="112407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667EEA"/>
                </a:solidFill>
              </a:defRPr>
            </a:pPr>
            <a:r>
              <a:t>Smart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374" y="228600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>
                <a:solidFill>
                  <a:srgbClr val="667EEA"/>
                </a:solidFill>
              </a:defRPr>
            </a:pPr>
            <a:r>
              <a:t>Cross-sell ML Prediction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0033" y="3181894"/>
            <a:ext cx="8229600" cy="2743200"/>
          </a:xfrm>
          <a:prstGeom prst="rect">
            <a:avLst/>
          </a:prstGeom>
          <a:solidFill>
            <a:srgbClr val="F5F7FA"/>
          </a:solidFill>
          <a:ln w="762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04353" y="3276600"/>
            <a:ext cx="4485459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rPr lang="en-GB" dirty="0"/>
              <a:t>          </a:t>
            </a:r>
            <a:r>
              <a:rPr dirty="0"/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📊 Data Extraction from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959" y="1159329"/>
            <a:ext cx="2444419" cy="2036455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🏦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200" dirty="0"/>
              <a:t>Raw Client Data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We begin with raw client data pulled from the enterprise data platform.</a:t>
            </a:r>
            <a:endParaRPr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Includes: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Client identifiers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/>
              <a:t>• Products </a:t>
            </a:r>
            <a:r>
              <a:rPr sz="1050" dirty="0"/>
              <a:t>owned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Financial values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Purchase / registration dates</a:t>
            </a:r>
            <a:endParaRPr sz="105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28467" y="199426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6530" y="1143000"/>
            <a:ext cx="2449861" cy="201080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🧹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200" dirty="0"/>
              <a:t>Clean &amp; Standardize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Raw data is inconsistent and not model-ready.</a:t>
            </a:r>
            <a:endParaRPr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We standardize it by: </a:t>
            </a:r>
            <a:endParaRPr lang="en-GB" sz="105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Combining multiple product fields </a:t>
            </a:r>
            <a:endParaRPr lang="en-GB" sz="105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Mapping them into7 clear product categories </a:t>
            </a:r>
            <a:endParaRPr lang="en-GB" sz="105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Ensuring one product per event</a:t>
            </a:r>
            <a:endParaRPr sz="105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22038" y="205957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659" y="1143000"/>
            <a:ext cx="2449861" cy="1874872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🔍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200" dirty="0"/>
              <a:t>Quality Checks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Only reliable data is retained.</a:t>
            </a:r>
            <a:endParaRPr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We keep records where: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Client ID is present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Purchase date is available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Product category is valid </a:t>
            </a:r>
            <a:endParaRPr lang="en-GB"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Policy status </a:t>
            </a:r>
            <a:r>
              <a:rPr sz="1050" dirty="0" err="1"/>
              <a:t>isActive</a:t>
            </a:r>
            <a:endParaRPr sz="105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15610" y="199426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588" y="1143000"/>
            <a:ext cx="2444419" cy="1823576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⚡</a:t>
            </a:r>
            <a:endParaRPr lang="en-US" sz="240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200" dirty="0"/>
              <a:t>Smart Sampling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Full data volume </a:t>
            </a:r>
            <a:r>
              <a:rPr lang="en-GB" sz="1050" dirty="0"/>
              <a:t>is</a:t>
            </a:r>
            <a:r>
              <a:rPr sz="1050" dirty="0"/>
              <a:t> extremely large.</a:t>
            </a:r>
            <a:endParaRPr sz="105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To remain efficient: </a:t>
            </a:r>
            <a:endParaRPr lang="en-GB" sz="105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20% random </a:t>
            </a:r>
            <a:r>
              <a:rPr lang="en-GB" sz="1050"/>
              <a:t>samples</a:t>
            </a:r>
            <a:r>
              <a:rPr sz="1050" dirty="0"/>
              <a:t> applied </a:t>
            </a:r>
            <a:endParaRPr lang="en-GB" sz="105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Behavioral patterns remain representative Result: ~49 million clean purchase events</a:t>
            </a:r>
            <a:endParaRPr sz="105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" y="3361509"/>
            <a:ext cx="11240719" cy="154657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sz="1050" dirty="0"/>
              <a:t>✔ Outcome of Step 1</a:t>
            </a:r>
            <a:endParaRPr lang="en-US" sz="1050">
              <a:ea typeface="Calibri"/>
              <a:cs typeface="Calibri"/>
            </a:endParaRPr>
          </a:p>
          <a:p>
            <a:r>
              <a:rPr sz="1400" dirty="0"/>
              <a:t>At the end of this step, we have a clean, standardized event-level dataset .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Each row answers: </a:t>
            </a:r>
            <a:endParaRPr lang="en-GB" sz="140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Who  the</a:t>
            </a:r>
            <a:r>
              <a:rPr sz="1400" dirty="0"/>
              <a:t> client is </a:t>
            </a:r>
            <a:endParaRPr lang="en-GB" sz="140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What product</a:t>
            </a:r>
            <a:r>
              <a:rPr sz="1400" dirty="0"/>
              <a:t> they bought </a:t>
            </a:r>
            <a:endParaRPr lang="en-GB" sz="140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When they</a:t>
            </a:r>
            <a:r>
              <a:rPr sz="1400" dirty="0"/>
              <a:t> bought it </a:t>
            </a:r>
            <a:endParaRPr lang="en-GB" sz="1400"/>
          </a:p>
          <a:p>
            <a:r>
              <a:rPr sz="1400" dirty="0"/>
              <a:t>This forms the foundation for </a:t>
            </a:r>
            <a:r>
              <a:rPr lang="en-GB" sz="1400" dirty="0"/>
              <a:t>model </a:t>
            </a:r>
            <a:r>
              <a:rPr sz="1400" dirty="0"/>
              <a:t>learning.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6374" y="4932318"/>
            <a:ext cx="2545890" cy="307777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400" dirty="0"/>
              <a:t>📦 Event-Level Fields Extracted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374" y="5349240"/>
            <a:ext cx="5437479" cy="892552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rPr sz="1000" dirty="0"/>
              <a:t>Product &amp; Policy</a:t>
            </a:r>
            <a:endParaRPr lang="en-US" sz="1000">
              <a:ea typeface="Calibri"/>
              <a:cs typeface="Calibri"/>
            </a:endParaRPr>
          </a:p>
          <a:p>
            <a:r>
              <a:rPr sz="1400" dirty="0" err="1"/>
              <a:t>product_category</a:t>
            </a:r>
            <a:r>
              <a:rPr sz="1400" dirty="0"/>
              <a:t>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</a:t>
            </a:r>
            <a:r>
              <a:rPr sz="1400" dirty="0" err="1"/>
              <a:t>register_date</a:t>
            </a:r>
            <a:r>
              <a:rPr sz="1400" dirty="0"/>
              <a:t>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</a:t>
            </a:r>
            <a:r>
              <a:rPr sz="1400" dirty="0" err="1"/>
              <a:t>policy_status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8173" y="5349240"/>
            <a:ext cx="5437479" cy="461665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rPr sz="1000" dirty="0"/>
              <a:t>Identifiers</a:t>
            </a:r>
            <a:endParaRPr lang="en-US" sz="1000">
              <a:ea typeface="Calibri"/>
              <a:cs typeface="Calibri"/>
            </a:endParaRPr>
          </a:p>
          <a:p>
            <a:r>
              <a:rPr sz="1400" dirty="0"/>
              <a:t>Client </a:t>
            </a:r>
            <a:r>
              <a:rPr lang="en-GB" sz="1400" dirty="0"/>
              <a:t>Identifier</a:t>
            </a:r>
            <a:endParaRPr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Order Events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Sort purchases by date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timeline: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1st product → 2nd → 3rd...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742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4331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🔄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Group by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Combine all purchases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Example: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Client A: Retirement, Life Insurance,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57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0774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✂️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Filter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Keep clients with ≥2 products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Reason: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Need history to learn from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Result: 388K+ clients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5BA174-9246-791B-1225-118163E33617}"/>
              </a:ext>
            </a:extLst>
          </p:cNvPr>
          <p:cNvSpPr txBox="1"/>
          <p:nvPr/>
        </p:nvSpPr>
        <p:spPr>
          <a:xfrm>
            <a:off x="464603" y="3316660"/>
            <a:ext cx="3284874" cy="323165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667EEA"/>
                </a:solidFill>
              </a:defRPr>
            </a:pPr>
            <a:r>
              <a:rPr dirty="0"/>
              <a:t>➕ Client-Level Features (</a:t>
            </a:r>
            <a:r>
              <a:rPr lang="en-GB" dirty="0"/>
              <a:t>Joined Later</a:t>
            </a:r>
            <a:r>
              <a:rPr dirty="0"/>
              <a:t>)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53D9F39-0C5E-1BDD-9723-7721DAB74F4C}"/>
              </a:ext>
            </a:extLst>
          </p:cNvPr>
          <p:cNvSpPr txBox="1"/>
          <p:nvPr/>
        </p:nvSpPr>
        <p:spPr>
          <a:xfrm>
            <a:off x="464603" y="3820668"/>
            <a:ext cx="11240719" cy="469359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555555"/>
                </a:solidFill>
              </a:defRPr>
            </a:pPr>
            <a:endParaRPr lang="en-US" sz="1050" dirty="0">
              <a:ea typeface="Calibri"/>
              <a:cs typeface="Calibri"/>
            </a:endParaRPr>
          </a:p>
          <a:p>
            <a:r>
              <a:rPr sz="1400" dirty="0"/>
              <a:t>In addition to purchase events, several client-level attributes are created separately and joined later to enrich training</a:t>
            </a:r>
            <a:r>
              <a:rPr lang="en-GB" sz="1400" dirty="0"/>
              <a:t>: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AC0964D-C223-7B4A-4E95-1C35C963127C}"/>
              </a:ext>
            </a:extLst>
          </p:cNvPr>
          <p:cNvSpPr txBox="1"/>
          <p:nvPr/>
        </p:nvSpPr>
        <p:spPr>
          <a:xfrm>
            <a:off x="464603" y="4515177"/>
            <a:ext cx="3544431" cy="226215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💰 Financial Features</a:t>
            </a:r>
            <a:endParaRPr lang="en-US" sz="900">
              <a:ea typeface="Calibri"/>
              <a:cs typeface="Calibri"/>
            </a:endParaRPr>
          </a:p>
          <a:p>
            <a:r>
              <a:rPr sz="1200" err="1"/>
              <a:t>acct_val_amt</a:t>
            </a:r>
            <a:r>
              <a:rPr sz="1200" dirty="0"/>
              <a:t> (Account value)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err="1"/>
              <a:t>face_amt</a:t>
            </a:r>
            <a:r>
              <a:rPr sz="1200" dirty="0"/>
              <a:t> (Face amount)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err="1"/>
              <a:t>cash_val_amt</a:t>
            </a:r>
            <a:r>
              <a:rPr sz="1200" dirty="0"/>
              <a:t> (Cash value)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err="1"/>
              <a:t>wc_total_assets</a:t>
            </a:r>
            <a:r>
              <a:rPr sz="1200" dirty="0"/>
              <a:t> (Total assets)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Asset mix: </a:t>
            </a:r>
            <a:endParaRPr lang="en-GB" sz="1200">
              <a:ea typeface="Calibri"/>
              <a:cs typeface="Calibri"/>
            </a:endParaRPr>
          </a:p>
          <a:p>
            <a:r>
              <a:rPr sz="1200" dirty="0"/>
              <a:t>• Stocks </a:t>
            </a:r>
            <a:endParaRPr lang="en-GB" sz="1200">
              <a:ea typeface="Calibri"/>
              <a:cs typeface="Calibri"/>
            </a:endParaRPr>
          </a:p>
          <a:p>
            <a:r>
              <a:rPr sz="1200" dirty="0"/>
              <a:t>• Bonds </a:t>
            </a:r>
            <a:endParaRPr lang="en-GB" sz="1200">
              <a:ea typeface="Calibri"/>
              <a:cs typeface="Calibri"/>
            </a:endParaRPr>
          </a:p>
          <a:p>
            <a:r>
              <a:rPr sz="1200" dirty="0"/>
              <a:t>• Mutual funds </a:t>
            </a:r>
            <a:endParaRPr lang="en-GB" sz="1200">
              <a:ea typeface="Calibri"/>
              <a:cs typeface="Calibri"/>
            </a:endParaRPr>
          </a:p>
          <a:p>
            <a:r>
              <a:rPr sz="1200" dirty="0"/>
              <a:t>• Annuity </a:t>
            </a:r>
            <a:endParaRPr lang="en-GB" sz="1200"/>
          </a:p>
          <a:p>
            <a:r>
              <a:rPr sz="1200"/>
              <a:t>• Deposits </a:t>
            </a:r>
            <a:endParaRPr lang="en-GB" sz="1200"/>
          </a:p>
          <a:p>
            <a:r>
              <a:rPr sz="1200" dirty="0"/>
              <a:t>• Other assets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320C568F-8737-5D88-5F49-016AD8AA82D7}"/>
              </a:ext>
            </a:extLst>
          </p:cNvPr>
          <p:cNvSpPr txBox="1"/>
          <p:nvPr/>
        </p:nvSpPr>
        <p:spPr>
          <a:xfrm>
            <a:off x="4272469" y="4515177"/>
            <a:ext cx="3544431" cy="41549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👤 Demographic Feature</a:t>
            </a:r>
            <a:endParaRPr lang="en-US" sz="900">
              <a:ea typeface="Calibri"/>
              <a:cs typeface="Calibri"/>
            </a:endParaRPr>
          </a:p>
          <a:p>
            <a:r>
              <a:rPr sz="1200" dirty="0" err="1"/>
              <a:t>psn_age</a:t>
            </a:r>
            <a:r>
              <a:rPr sz="1200" dirty="0"/>
              <a:t> (Client age)</a:t>
            </a:r>
            <a:endParaRPr sz="1200">
              <a:ea typeface="Calibri"/>
              <a:cs typeface="Calibri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BFABCB0-8AF5-EE82-79B0-9CE92F829E75}"/>
              </a:ext>
            </a:extLst>
          </p:cNvPr>
          <p:cNvSpPr txBox="1"/>
          <p:nvPr/>
        </p:nvSpPr>
        <p:spPr>
          <a:xfrm>
            <a:off x="8080335" y="4515177"/>
            <a:ext cx="3544431" cy="133882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🏢 Categorical / Business Context</a:t>
            </a:r>
            <a:endParaRPr lang="en-US" sz="900">
              <a:ea typeface="Calibri"/>
              <a:cs typeface="Calibri"/>
            </a:endParaRPr>
          </a:p>
          <a:p>
            <a:r>
              <a:rPr sz="1200" dirty="0" err="1"/>
              <a:t>client_seg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client_seg_1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aum_band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channel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agent_segment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branchoffice_code</a:t>
            </a:r>
            <a:endParaRPr sz="1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70045" y="2714680"/>
            <a:ext cx="11240719" cy="2123658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sz="2000" b="1" dirty="0"/>
              <a:t>🔗 How These Features Are Combined</a:t>
            </a:r>
            <a:endParaRPr lang="en-US" sz="2000" b="1" dirty="0">
              <a:ea typeface="Calibri"/>
              <a:cs typeface="Calibri"/>
            </a:endParaRPr>
          </a:p>
          <a:p>
            <a:endParaRPr lang="en-GB" sz="1400" dirty="0"/>
          </a:p>
          <a:p>
            <a:r>
              <a:rPr sz="1400" dirty="0"/>
              <a:t>Client-level features are joined to purchase events using </a:t>
            </a:r>
            <a:r>
              <a:rPr lang="en-GB" sz="1400" dirty="0"/>
              <a:t>JOIN, which helps:</a:t>
            </a:r>
            <a:r>
              <a:rPr sz="1400" dirty="0"/>
              <a:t> </a:t>
            </a:r>
            <a:r>
              <a:rPr lang="en-GB" sz="1400" dirty="0"/>
              <a:t> </a:t>
            </a:r>
            <a:endParaRPr sz="1400" dirty="0">
              <a:ea typeface="Calibri"/>
              <a:cs typeface="Calibri"/>
            </a:endParaRPr>
          </a:p>
          <a:p>
            <a:r>
              <a:rPr sz="1400" dirty="0"/>
              <a:t> </a:t>
            </a:r>
            <a:endParaRPr lang="en-GB" sz="1400" dirty="0"/>
          </a:p>
          <a:p>
            <a:r>
              <a:rPr sz="1400" dirty="0"/>
              <a:t>• </a:t>
            </a:r>
            <a:r>
              <a:rPr lang="en-GB" sz="1400" dirty="0"/>
              <a:t>Preserves all</a:t>
            </a:r>
            <a:r>
              <a:rPr sz="1400" dirty="0"/>
              <a:t> training examples </a:t>
            </a:r>
            <a:endParaRPr lang="en-GB" sz="1400"/>
          </a:p>
          <a:p>
            <a:r>
              <a:rPr sz="1400" dirty="0"/>
              <a:t>• Avoids dropping valid purchase histories </a:t>
            </a:r>
            <a:endParaRPr lang="en-GB" sz="1400" dirty="0"/>
          </a:p>
          <a:p>
            <a:r>
              <a:rPr sz="1400" dirty="0"/>
              <a:t>• Handles missing client attributes safely </a:t>
            </a:r>
            <a:endParaRPr lang="en-GB" sz="1400"/>
          </a:p>
          <a:p>
            <a:endParaRPr lang="en-GB" sz="1400" dirty="0"/>
          </a:p>
          <a:p>
            <a:r>
              <a:rPr sz="1400" dirty="0"/>
              <a:t>This ensures learning is driven by behavior first, with attributes as enrichment.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D80C4-B47C-BCD2-895E-0B7F827F5FC2}"/>
              </a:ext>
            </a:extLst>
          </p:cNvPr>
          <p:cNvSpPr txBox="1"/>
          <p:nvPr/>
        </p:nvSpPr>
        <p:spPr>
          <a:xfrm>
            <a:off x="475487" y="5123687"/>
            <a:ext cx="11240719" cy="111569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endParaRPr lang="en-US" sz="1050" dirty="0">
              <a:ea typeface="Calibri"/>
              <a:cs typeface="Calibri"/>
            </a:endParaRPr>
          </a:p>
          <a:p>
            <a:r>
              <a:rPr sz="1400" dirty="0"/>
              <a:t>Split the Data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80% Training: Model learns patterns from this data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10% Validation: Check if model is learning correctly (prevents overfitting)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10% Test: Final exam - see how well model performs on completely unseen data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3CBA3-2204-654E-DC2D-8F3FFE4591B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0EE230-32E0-E4E9-966D-28AD7A934AD8}"/>
              </a:ext>
            </a:extLst>
          </p:cNvPr>
          <p:cNvSpPr txBox="1"/>
          <p:nvPr/>
        </p:nvSpPr>
        <p:spPr>
          <a:xfrm>
            <a:off x="749808" y="1828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16BD64-A745-4254-0F7A-ECDD6DD0E9AF}"/>
              </a:ext>
            </a:extLst>
          </p:cNvPr>
          <p:cNvSpPr/>
          <p:nvPr/>
        </p:nvSpPr>
        <p:spPr>
          <a:xfrm>
            <a:off x="3810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FF45B-BEE7-F30D-EFA6-BEB219A5E215}"/>
              </a:ext>
            </a:extLst>
          </p:cNvPr>
          <p:cNvSpPr txBox="1"/>
          <p:nvPr/>
        </p:nvSpPr>
        <p:spPr>
          <a:xfrm>
            <a:off x="902208" y="3352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C3904-9D6A-3637-3A43-56F3B756ED9B}"/>
              </a:ext>
            </a:extLst>
          </p:cNvPr>
          <p:cNvSpPr txBox="1"/>
          <p:nvPr/>
        </p:nvSpPr>
        <p:spPr>
          <a:xfrm>
            <a:off x="475487" y="1174351"/>
            <a:ext cx="11240719" cy="461665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lang="en-US" sz="2400" b="1" dirty="0">
                <a:ea typeface="Calibri"/>
                <a:cs typeface="Calibri"/>
              </a:rPr>
              <a:t>Feature engineering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070647B9-E974-A4CE-0EE7-0E186968AA8A}"/>
              </a:ext>
            </a:extLst>
          </p:cNvPr>
          <p:cNvSpPr txBox="1"/>
          <p:nvPr/>
        </p:nvSpPr>
        <p:spPr>
          <a:xfrm>
            <a:off x="500569" y="1712106"/>
            <a:ext cx="3234188" cy="52322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1600" dirty="0"/>
              <a:t>👤 </a:t>
            </a:r>
            <a:r>
              <a:rPr lang="en-GB" sz="1600" dirty="0"/>
              <a:t>History Sequence Features</a:t>
            </a:r>
            <a:endParaRPr lang="en-US" sz="1600">
              <a:ea typeface="Calibri"/>
              <a:cs typeface="Calibri"/>
            </a:endParaRPr>
          </a:p>
          <a:p>
            <a:r>
              <a:rPr lang="en-GB" sz="1200" dirty="0">
                <a:ea typeface="Calibri"/>
                <a:cs typeface="Calibri"/>
              </a:rPr>
              <a:t>Product position in the padded history sequence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625B07DA-5C29-C978-2F01-3BE0E5E60730}"/>
              </a:ext>
            </a:extLst>
          </p:cNvPr>
          <p:cNvSpPr txBox="1"/>
          <p:nvPr/>
        </p:nvSpPr>
        <p:spPr>
          <a:xfrm>
            <a:off x="4435754" y="1712107"/>
            <a:ext cx="3315831" cy="892552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lang="en-US" b="1" dirty="0">
                <a:solidFill>
                  <a:srgbClr val="667EEA"/>
                </a:solidFill>
              </a:rPr>
              <a:t>📊 </a:t>
            </a:r>
            <a:r>
              <a:rPr lang="en-GB" dirty="0"/>
              <a:t> </a:t>
            </a:r>
            <a:r>
              <a:rPr lang="en-GB" sz="1600" dirty="0"/>
              <a:t>Sequence Statistics Features</a:t>
            </a:r>
            <a:endParaRPr lang="en-GB" sz="1600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ea typeface="Calibri"/>
                <a:cs typeface="Calibri"/>
              </a:rPr>
              <a:t>Length of history sequence</a:t>
            </a: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ea typeface="Calibri"/>
                <a:cs typeface="Calibri"/>
              </a:rPr>
              <a:t>Number of unique products in history</a:t>
            </a: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ea typeface="Calibri"/>
                <a:cs typeface="Calibri"/>
              </a:rPr>
              <a:t>Number of product transitions in history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266C499C-F760-F8FB-F7A3-CC4F444794F8}"/>
              </a:ext>
            </a:extLst>
          </p:cNvPr>
          <p:cNvSpPr txBox="1"/>
          <p:nvPr/>
        </p:nvSpPr>
        <p:spPr>
          <a:xfrm>
            <a:off x="8474355" y="1712106"/>
            <a:ext cx="3239630" cy="52322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lang="en-US" dirty="0"/>
              <a:t>🔢</a:t>
            </a:r>
            <a:r>
              <a:rPr lang="en-GB" dirty="0"/>
              <a:t> </a:t>
            </a:r>
            <a:r>
              <a:rPr lang="en-GB" sz="1600" dirty="0"/>
              <a:t>Frequency Features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200" dirty="0">
                <a:ea typeface="Calibri"/>
                <a:cs typeface="Calibri"/>
              </a:rPr>
              <a:t>Count of each product category in the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488" y="1389888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🎯 What Is Multi-Class Classification?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029968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Not Yes / No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does not give a simple yes/no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5674" y="2761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8902" y="2029968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🔢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Multiple Choices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It evaluates 7 product categories and assigns a probability to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7188" y="2761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6117" y="2029968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All probabilities add up to 100%.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The highest one becomes the recommendation.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041648"/>
            <a:ext cx="11240719" cy="227754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dirty="0"/>
              <a:t>🧩 Simple Example</a:t>
            </a:r>
            <a:endParaRPr lang="en-US" dirty="0">
              <a:ea typeface="Calibri"/>
              <a:cs typeface="Calibri"/>
            </a:endParaRPr>
          </a:p>
          <a:p>
            <a:endParaRPr lang="en-GB" dirty="0">
              <a:solidFill>
                <a:srgbClr val="555555"/>
              </a:solidFill>
              <a:ea typeface="Calibri"/>
              <a:cs typeface="Calibri"/>
            </a:endParaRPr>
          </a:p>
          <a:p>
            <a:r>
              <a:rPr sz="1600" dirty="0"/>
              <a:t>For a client with only a Retirement account: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Life Insurance →96%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Investment → 2% </a:t>
            </a:r>
            <a:endParaRPr lang="en-GB" sz="1600">
              <a:ea typeface="Calibri"/>
              <a:cs typeface="Calibri"/>
            </a:endParaRPr>
          </a:p>
          <a:p>
            <a:r>
              <a:rPr lang="en-GB" sz="1600" dirty="0"/>
              <a:t>•</a:t>
            </a:r>
            <a:r>
              <a:rPr sz="1600" dirty="0"/>
              <a:t> Health → 1%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Others → 1% </a:t>
            </a:r>
            <a:endParaRPr lang="en-GB" sz="1600" dirty="0">
              <a:ea typeface="Calibri"/>
              <a:cs typeface="Calibri"/>
            </a:endParaRPr>
          </a:p>
          <a:p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The model confidently recommends Life Insurance 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8587E-A7E0-6263-813F-E87447C136E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D7EF8-3300-4E1A-2394-1E991CDFC768}"/>
              </a:ext>
            </a:extLst>
          </p:cNvPr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Model Training – How the Model Learns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Model Training – How the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202871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📊 Training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842951"/>
            <a:ext cx="2444419" cy="1987724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   </a:t>
            </a:r>
            <a:r>
              <a:rPr dirty="0"/>
              <a:t>📦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Prepared Learning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Clean and structured data from earlier steps.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Each example includes: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Client purchase history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Client profile </a:t>
            </a:r>
            <a:r>
              <a:rPr lang="en-GB" dirty="0"/>
              <a:t>and engineered features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Actual next product bought</a:t>
            </a:r>
            <a:endParaRPr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0996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9059" y="1842951"/>
            <a:ext cx="2444419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Training Set (80%)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Used to teach the model.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Learns patterns from historical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4724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02" y="1842951"/>
            <a:ext cx="2444419" cy="1756891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🧪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Validation Set (10%)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Used during training to: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lang="en-GB" dirty="0"/>
              <a:t>•</a:t>
            </a:r>
            <a:r>
              <a:rPr dirty="0"/>
              <a:t> Monitor learning quality </a:t>
            </a:r>
            <a:endParaRPr lang="en-GB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Prevent overfitting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14567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588" y="1842951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🏁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Test Set (10%)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Never shown during training.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Confirms real-world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🤖 How the Model Learns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63440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🔍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Study Past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analyzes millions of past client journeys.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It observes what clients bought first and what came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674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8902" y="4663440"/>
            <a:ext cx="3411626" cy="195181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🌳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Decision Trees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Thousands of decision trees ask questions like: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Age group?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Current product?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Asset level?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1617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7759" y="466344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📈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Pattern Learning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Over time, the model learns: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“Clients like this usually buy this product next.”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🔮 How the Model Predicts for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Understanding the Prediction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181844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   </a:t>
            </a:r>
            <a:r>
              <a:rPr dirty="0"/>
              <a:t>👤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New Client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Example Client: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Age: 58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Has: Retirement account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Assets: $250K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Channel: Advisor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81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6801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Feature Preparation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Convert to same 39 features: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Purchase history: [Retirement]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Age: 58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Asset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Channel code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other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1986" y="279218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230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Model Processing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searches trained patterns: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"Clients similar to this one typically bought..."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Runs through 2,000 decision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2414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3987" y="2011680"/>
            <a:ext cx="1864095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all 7 products: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Life Insurance: 96%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Investment: 2%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Health: 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Disability: 0.5%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Network: 0.3%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Retirement: 0.1%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Other: 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9172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3531" y="2011680"/>
            <a:ext cx="1864095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Final Recommendation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confidence ≥95%: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Recommend Life Insurance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&lt;95%: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No recommendation (not confident enough)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💡 What Makes the Model Confident?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1034D-88B4-A604-C8EF-6F1FE82DF567}"/>
              </a:ext>
            </a:extLst>
          </p:cNvPr>
          <p:cNvSpPr txBox="1"/>
          <p:nvPr/>
        </p:nvSpPr>
        <p:spPr>
          <a:xfrm>
            <a:off x="513587" y="4776651"/>
            <a:ext cx="11204037" cy="1384995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The model is confident when it sees strong, consistent patterns in the training data:</a:t>
            </a:r>
            <a:br>
              <a:rPr lang="en-US" sz="1100" dirty="0">
                <a:solidFill>
                  <a:srgbClr val="555555"/>
                </a:solidFill>
              </a:rPr>
            </a:b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b="1" dirty="0">
                <a:solidFill>
                  <a:srgbClr val="555555"/>
                </a:solidFill>
              </a:rPr>
              <a:t>High Confidence Example (96%):</a:t>
            </a: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dirty="0">
                <a:solidFill>
                  <a:srgbClr val="555555"/>
                </a:solidFill>
              </a:rPr>
              <a:t>"I've seen 500 clients aged 50-65 with only Retirement accounts, and 480 of them bought Life Insurance next. This new client matches that pattern perfectly!"</a:t>
            </a:r>
            <a:br>
              <a:rPr lang="en-US" sz="1100" dirty="0">
                <a:solidFill>
                  <a:srgbClr val="555555"/>
                </a:solidFill>
              </a:rPr>
            </a:b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b="1" dirty="0">
                <a:solidFill>
                  <a:srgbClr val="555555"/>
                </a:solidFill>
              </a:rPr>
              <a:t>Low Confidence Example (45%):</a:t>
            </a: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dirty="0">
                <a:solidFill>
                  <a:srgbClr val="555555"/>
                </a:solidFill>
              </a:rPr>
              <a:t>"I've seen similar clients buy different products. 45% bought Life Insurance, 30% bought Investment, 25% bought other products. Not clear enough to recommend."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Monthly Pipeline - Processing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458686"/>
            <a:ext cx="1864095" cy="156196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📅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lang="en-GB" dirty="0"/>
              <a:t>Every</a:t>
            </a:r>
            <a:r>
              <a:rPr dirty="0"/>
              <a:t> Month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Automated Trigger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Pipeline runs automatically</a:t>
            </a:r>
            <a:endParaRPr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48143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1358" y="1257300"/>
            <a:ext cx="1853210" cy="196207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  </a:t>
            </a:r>
            <a:r>
              <a:rPr dirty="0"/>
              <a:t>💾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Extract Latest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Pull current </a:t>
            </a:r>
            <a:r>
              <a:rPr lang="en-GB" dirty="0"/>
              <a:t>business month</a:t>
            </a:r>
            <a:r>
              <a:rPr dirty="0"/>
              <a:t> data from Databricks</a:t>
            </a:r>
            <a:r>
              <a:rPr lang="en-GB" dirty="0"/>
              <a:t>, filters: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lang="en-GB" dirty="0"/>
              <a:t>Clients with exactly</a:t>
            </a:r>
            <a:r>
              <a:rPr dirty="0"/>
              <a:t> 1 product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Branch code 83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Active status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8414" y="219020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8244" y="1273629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Prepare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Same process as training: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Convert products to categories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Build all 39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Handle missing values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Encode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3429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3230" y="1273629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Load Trained Model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Uses SAME model trained earlier (not retrained)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From MLflow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65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5559" y="1257300"/>
            <a:ext cx="1864095" cy="1926168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🎯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Generate Predictions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predicts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Only keep: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Predictions ≥95%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832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SHAP Analysis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Explains WHY: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"Recommended because of age, current product, and asset level"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natural language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846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9059" y="3426823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👥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Join Demographics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Add client contact info, advisor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081" y="415834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02" y="3426823"/>
            <a:ext cx="2444419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Save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Output Table: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eda_smartlist...standalone_tp_predictions_single_policy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Typical Output: 1,500-2,000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4567" y="415834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8617" y="3426823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receive list with: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name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Talking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1,500-2,000</a:t>
            </a:r>
          </a:p>
          <a:p>
            <a:r>
              <a:t>High-Confidence Leads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3354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≥95%</a:t>
            </a:r>
          </a:p>
          <a:p>
            <a:r>
              <a:t>Prediction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1220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100%</a:t>
            </a:r>
          </a:p>
          <a:p>
            <a:r>
              <a:t>Automated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💼 Cross-sell Output &amp;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259" y="1660071"/>
            <a:ext cx="3411626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📋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Prediction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each client: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ID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Current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7445" y="239159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602" y="1660071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Talking Points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Natural language explanations: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"Based on similar clients in your age group with retirement accounts, life insurance is typically the next product of interest"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7316" y="239159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7002" y="1660071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can: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Prioritize outreach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Personalize conversations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Use data-backed reasons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Increase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0806" y="4500090"/>
            <a:ext cx="2013728" cy="1138773"/>
          </a:xfrm>
          <a:prstGeom prst="rect">
            <a:avLst/>
          </a:prstGeom>
          <a:solidFill>
            <a:srgbClr val="11998E"/>
          </a:solidFill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85%</a:t>
            </a:r>
          </a:p>
          <a:p>
            <a:r>
              <a:rPr dirty="0"/>
              <a:t>Prediction Accuracy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8601" y="4499066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</a:t>
            </a:r>
          </a:p>
          <a:p>
            <a:r>
              <a:t>Manual Effort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Complete Pipeline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3429144" cy="276999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200" dirty="0"/>
              <a:t>📊 One-Time Model Training (Already Completed)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928459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💾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Extract 48M+ Records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10115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130" y="2011680"/>
            <a:ext cx="1864095" cy="928459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🔧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Prepare &amp; Engineer Features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0286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61787" y="2011680"/>
            <a:ext cx="1864095" cy="928459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🧠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Train </a:t>
            </a:r>
            <a:r>
              <a:rPr sz="1100" dirty="0" err="1"/>
              <a:t>LightGBM</a:t>
            </a:r>
            <a:r>
              <a:rPr sz="1100" dirty="0"/>
              <a:t> Model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8944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07658" y="2011680"/>
            <a:ext cx="1864095" cy="928459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✅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85% Accuracy Achieved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34815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53531" y="2011680"/>
            <a:ext cx="1864095" cy="928459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💾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Save to </a:t>
            </a:r>
            <a:r>
              <a:rPr sz="1100" dirty="0" err="1"/>
              <a:t>MLflow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259" y="3185160"/>
            <a:ext cx="2961067" cy="276999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200" dirty="0"/>
              <a:t>🔄 Monthly Automated Pipeline (Ongoing)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259" y="3825240"/>
            <a:ext cx="1228082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📅</a:t>
            </a:r>
            <a:endParaRPr sz="200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lang="en-GB" sz="1100" dirty="0"/>
              <a:t>12th of Month Trigger</a:t>
            </a:r>
            <a:endParaRPr sz="1100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68659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62773" y="3825240"/>
            <a:ext cx="1200868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🔍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Filter Single-Product Clients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45059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01074" y="3825240"/>
            <a:ext cx="1200868" cy="1097736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🔧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Prepare 39 Features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65002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2916" y="3825240"/>
            <a:ext cx="1200868" cy="1097736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🤖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Run Trained Model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5202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50459" y="3825240"/>
            <a:ext cx="1200868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✂️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Filter ≥95% Confidence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1602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92173" y="3825240"/>
            <a:ext cx="1200868" cy="1097736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💬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Generate Talking Points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43188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39330" y="3825240"/>
            <a:ext cx="1200868" cy="1097736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📞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Deliver to Advisors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A66805A6-EB61-CCB0-5CCE-D9E9230A20E6}"/>
              </a:ext>
            </a:extLst>
          </p:cNvPr>
          <p:cNvSpPr txBox="1"/>
          <p:nvPr/>
        </p:nvSpPr>
        <p:spPr>
          <a:xfrm>
            <a:off x="497259" y="5580888"/>
            <a:ext cx="11240719" cy="731520"/>
          </a:xfrm>
          <a:prstGeom prst="rect">
            <a:avLst/>
          </a:prstGeom>
          <a:solidFill>
            <a:srgbClr val="667EEA"/>
          </a:solidFill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Result:1,500-2,000 high-quality, data-backed cross-sell opportunities delivered to advisors every month with 95%+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247" y="2514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357</cp:revision>
  <dcterms:created xsi:type="dcterms:W3CDTF">2013-01-27T09:14:16Z</dcterms:created>
  <dcterms:modified xsi:type="dcterms:W3CDTF">2026-01-28T06:18:30Z</dcterms:modified>
  <cp:category/>
</cp:coreProperties>
</file>