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1371600"/>
            <a:ext cx="1124071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667EEA"/>
                </a:solidFill>
              </a:defRPr>
            </a:pPr>
            <a:r>
              <a:t>Smart 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2743200"/>
            <a:ext cx="112407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>
                <a:solidFill>
                  <a:srgbClr val="667EEA"/>
                </a:solidFill>
              </a:defRPr>
            </a:pPr>
            <a:r>
              <a:t>Cross-sell ML Prediction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1981047" y="4297680"/>
            <a:ext cx="8229600" cy="2743200"/>
          </a:xfrm>
          <a:prstGeom prst="rect">
            <a:avLst/>
          </a:prstGeom>
          <a:solidFill>
            <a:srgbClr val="F5F7FA"/>
          </a:solidFill>
          <a:ln w="762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55367" y="457200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667EEA"/>
                </a:solidFill>
              </a:defRPr>
            </a:pPr>
            <a: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55367" y="5029200"/>
            <a:ext cx="3749040" cy="822960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67EEA"/>
                </a:solidFill>
              </a:defRPr>
            </a:pPr>
            <a:r>
              <a:t>📊 Data Extraction &amp; Preparation</a:t>
            </a:r>
          </a:p>
          <a:p>
            <a:pPr>
              <a:defRPr sz="1100">
                <a:solidFill>
                  <a:srgbClr val="555555"/>
                </a:solidFill>
              </a:defRPr>
            </a:pPr>
            <a:r>
              <a:t>From raw data to structured client purchase sequences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87287" y="5029200"/>
            <a:ext cx="3749040" cy="822960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67EEA"/>
                </a:solidFill>
              </a:defRPr>
            </a:pPr>
            <a:r>
              <a:t>🧠 Model Training</a:t>
            </a:r>
          </a:p>
          <a:p>
            <a:pPr>
              <a:defRPr sz="1100">
                <a:solidFill>
                  <a:srgbClr val="555555"/>
                </a:solidFill>
              </a:defRPr>
            </a:pPr>
            <a:r>
              <a:t>Learning patterns and behaviors from historical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55367" y="5989320"/>
            <a:ext cx="3749040" cy="822960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67EEA"/>
                </a:solidFill>
              </a:defRPr>
            </a:pPr>
            <a:r>
              <a:t>🔄 Monthly Run Pipeline</a:t>
            </a:r>
          </a:p>
          <a:p>
            <a:pPr>
              <a:defRPr sz="1100">
                <a:solidFill>
                  <a:srgbClr val="555555"/>
                </a:solidFill>
              </a:defRPr>
            </a:pPr>
            <a:r>
              <a:t>Automated predictions for single-product clients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7287" y="5989320"/>
            <a:ext cx="3749040" cy="822960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67EEA"/>
                </a:solidFill>
              </a:defRPr>
            </a:pPr>
            <a:r>
              <a:t>💼 Cross-sell Output</a:t>
            </a:r>
          </a:p>
          <a:p>
            <a:pPr>
              <a:defRPr sz="1100">
                <a:solidFill>
                  <a:srgbClr val="555555"/>
                </a:solidFill>
              </a:defRPr>
            </a:pPr>
            <a:r>
              <a:t>Actionable recommendations with talking points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55367" y="5029200"/>
            <a:ext cx="3749040" cy="822960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67EEA"/>
                </a:solidFill>
              </a:defRPr>
            </a:pPr>
            <a:r>
              <a:t>📊 Data Extraction &amp; Preparation</a:t>
            </a:r>
          </a:p>
          <a:p>
            <a:pPr>
              <a:defRPr sz="1100">
                <a:solidFill>
                  <a:srgbClr val="555555"/>
                </a:solidFill>
              </a:defRPr>
            </a:pPr>
            <a:r>
              <a:t>From raw data to structured client purchase sequences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87287" y="5029200"/>
            <a:ext cx="3749040" cy="822960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67EEA"/>
                </a:solidFill>
              </a:defRPr>
            </a:pPr>
            <a:r>
              <a:t>🧠 Model Training</a:t>
            </a:r>
          </a:p>
          <a:p>
            <a:pPr>
              <a:defRPr sz="1100">
                <a:solidFill>
                  <a:srgbClr val="555555"/>
                </a:solidFill>
              </a:defRPr>
            </a:pPr>
            <a:r>
              <a:t>Learning patterns and behaviors from historical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5367" y="5989320"/>
            <a:ext cx="3749040" cy="822960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67EEA"/>
                </a:solidFill>
              </a:defRPr>
            </a:pPr>
            <a:r>
              <a:t>🔄 Monthly Run Pipeline</a:t>
            </a:r>
          </a:p>
          <a:p>
            <a:pPr>
              <a:defRPr sz="1100">
                <a:solidFill>
                  <a:srgbClr val="555555"/>
                </a:solidFill>
              </a:defRPr>
            </a:pPr>
            <a:r>
              <a:t>Automated predictions for single-product clients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87287" y="5989320"/>
            <a:ext cx="3749040" cy="822960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67EEA"/>
                </a:solidFill>
              </a:defRPr>
            </a:pPr>
            <a:r>
              <a:t>💼 Cross-sell Output</a:t>
            </a:r>
          </a:p>
          <a:p>
            <a:pPr>
              <a:defRPr sz="1100">
                <a:solidFill>
                  <a:srgbClr val="555555"/>
                </a:solidFill>
              </a:defRPr>
            </a:pPr>
            <a:r>
              <a:t>Actionable recommendations with talking points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55367" y="5029200"/>
            <a:ext cx="3749040" cy="822960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67EEA"/>
                </a:solidFill>
              </a:defRPr>
            </a:pPr>
            <a:r>
              <a:t>📊 Data Extraction &amp; Preparation</a:t>
            </a:r>
          </a:p>
          <a:p>
            <a:pPr>
              <a:defRPr sz="1100">
                <a:solidFill>
                  <a:srgbClr val="555555"/>
                </a:solidFill>
              </a:defRPr>
            </a:pPr>
            <a:r>
              <a:t>From raw data to structured client purchase sequences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7287" y="5029200"/>
            <a:ext cx="3749040" cy="822960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67EEA"/>
                </a:solidFill>
              </a:defRPr>
            </a:pPr>
            <a:r>
              <a:t>🧠 Model Training</a:t>
            </a:r>
          </a:p>
          <a:p>
            <a:pPr>
              <a:defRPr sz="1100">
                <a:solidFill>
                  <a:srgbClr val="555555"/>
                </a:solidFill>
              </a:defRPr>
            </a:pPr>
            <a:r>
              <a:t>Learning patterns and behaviors from historical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55367" y="5989320"/>
            <a:ext cx="3749040" cy="822960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67EEA"/>
                </a:solidFill>
              </a:defRPr>
            </a:pPr>
            <a:r>
              <a:t>🔄 Monthly Run Pipeline</a:t>
            </a:r>
          </a:p>
          <a:p>
            <a:pPr>
              <a:defRPr sz="1100">
                <a:solidFill>
                  <a:srgbClr val="555555"/>
                </a:solidFill>
              </a:defRPr>
            </a:pPr>
            <a:r>
              <a:t>Automated predictions for single-product clients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287" y="5989320"/>
            <a:ext cx="3749040" cy="822960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67EEA"/>
                </a:solidFill>
              </a:defRPr>
            </a:pPr>
            <a:r>
              <a:t>💼 Cross-sell Output</a:t>
            </a:r>
          </a:p>
          <a:p>
            <a:pPr>
              <a:defRPr sz="1100">
                <a:solidFill>
                  <a:srgbClr val="555555"/>
                </a:solidFill>
              </a:defRPr>
            </a:pPr>
            <a:r>
              <a:t>Actionable recommendations with talking points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182880"/>
            <a:ext cx="112407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📊 Data Extraction from Source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1371600"/>
            <a:ext cx="2444419" cy="1828800"/>
          </a:xfrm>
          <a:prstGeom prst="rect">
            <a:avLst/>
          </a:prstGeom>
          <a:solidFill>
            <a:srgbClr val="4FACFE"/>
          </a:solidFill>
          <a:ln w="25400">
            <a:solidFill>
              <a:srgbClr val="4FACFE"/>
            </a:solidFill>
          </a:ln>
        </p:spPr>
        <p:txBody>
          <a:bodyPr wrap="square" tIns="91440" bIns="91440">
            <a:spAutoFit/>
          </a:bodyPr>
          <a:lstStyle/>
          <a:p/>
          <a:p>
            <a:pPr algn="ctr">
              <a:spcAft>
                <a:spcPts val="400"/>
              </a:spcAft>
              <a:defRPr sz="2800">
                <a:solidFill>
                  <a:srgbClr val="FFFFFF"/>
                </a:solidFill>
              </a:defRPr>
            </a:pPr>
            <a:r>
              <a:t>🏦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FFFFFF"/>
                </a:solidFill>
              </a:defRPr>
            </a:pPr>
            <a:r>
              <a:t>Raw Client Data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We begin with raw client data pulled from the enterprise data platform.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Includes: • Client identifiers • Products owned • Financial values • Purchase / registration dates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28467" y="21031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t>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1371600"/>
            <a:ext cx="2444419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txBody>
          <a:bodyPr wrap="square" tIns="91440" bIns="91440">
            <a:spAutoFit/>
          </a:bodyPr>
          <a:lstStyle/>
          <a:p/>
          <a:p>
            <a:pPr algn="ctr">
              <a:spcAft>
                <a:spcPts val="400"/>
              </a:spcAft>
              <a:defRPr sz="2800">
                <a:solidFill>
                  <a:srgbClr val="555555"/>
                </a:solidFill>
              </a:defRPr>
            </a:pPr>
            <a:r>
              <a:t>🧹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555555"/>
                </a:solidFill>
              </a:defRPr>
            </a:pPr>
            <a:r>
              <a:t>Clean &amp; Standardize</a:t>
            </a: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t>Raw data is inconsistent and not model-ready.</a:t>
            </a: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t>We standardize it by: • Combining multiple product fields • Mapping them into7 clear product categories • Ensuring one product per event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85667" y="21031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9888" y="1371600"/>
            <a:ext cx="2444419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txBody>
          <a:bodyPr wrap="square" tIns="91440" bIns="91440">
            <a:spAutoFit/>
          </a:bodyPr>
          <a:lstStyle/>
          <a:p/>
          <a:p>
            <a:pPr algn="ctr">
              <a:spcAft>
                <a:spcPts val="400"/>
              </a:spcAft>
              <a:defRPr sz="2800">
                <a:solidFill>
                  <a:srgbClr val="555555"/>
                </a:solidFill>
              </a:defRPr>
            </a:pPr>
            <a:r>
              <a:t>🔍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555555"/>
                </a:solidFill>
              </a:defRPr>
            </a:pPr>
            <a:r>
              <a:t>Quality Checks</a:t>
            </a: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t>Only reliable data is retained.</a:t>
            </a: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t>We keep records where: • Client ID is present • Purchase date is available • Product category is valid • Policy status isActive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2867" y="21031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1371600"/>
            <a:ext cx="2444419" cy="1828800"/>
          </a:xfrm>
          <a:prstGeom prst="rect">
            <a:avLst/>
          </a:prstGeom>
          <a:solidFill>
            <a:srgbClr val="11998E"/>
          </a:solidFill>
          <a:ln w="25400">
            <a:solidFill>
              <a:srgbClr val="11998E"/>
            </a:solidFill>
          </a:ln>
        </p:spPr>
        <p:txBody>
          <a:bodyPr wrap="square" tIns="91440" bIns="91440">
            <a:spAutoFit/>
          </a:bodyPr>
          <a:lstStyle/>
          <a:p/>
          <a:p>
            <a:pPr algn="ctr">
              <a:spcAft>
                <a:spcPts val="400"/>
              </a:spcAft>
              <a:defRPr sz="2800">
                <a:solidFill>
                  <a:srgbClr val="FFFFFF"/>
                </a:solidFill>
              </a:defRPr>
            </a:pPr>
            <a:r>
              <a:t>⚡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FFFFFF"/>
                </a:solidFill>
              </a:defRPr>
            </a:pPr>
            <a:r>
              <a:t>Smart Sampling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Full data volume is extremely large.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To remain efficient: • 20% random sampleis applied • Behavioral patterns remain representative Result: ~49 million clean purchase events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3383280"/>
            <a:ext cx="11240719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✔ Outcome of Step 1</a:t>
            </a:r>
          </a:p>
          <a:p>
            <a:r>
              <a:t>At the end of this step, we have a clean, standardized event-level dataset . </a:t>
            </a:r>
          </a:p>
          <a:p>
            <a:r>
              <a:t> Each row answers: • Whothe client is • Whatproduct they bought • Whenthey bought it This forms the foundation for all downstream learning.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4937760"/>
            <a:ext cx="11240719" cy="548640"/>
          </a:xfrm>
          <a:prstGeom prst="rect">
            <a:avLst/>
          </a:prstGeom>
          <a:solidFill>
            <a:srgbClr val="F8F9FA"/>
          </a:solidFill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667EEA"/>
                </a:solidFill>
              </a:defRPr>
            </a:pPr>
            <a:r>
              <a:t>📦 Event-Level Fields Extracted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5577840"/>
            <a:ext cx="5437479" cy="1371600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Product &amp; Policy</a:t>
            </a:r>
          </a:p>
          <a:p>
            <a:r>
              <a:t>product_category </a:t>
            </a:r>
          </a:p>
          <a:p>
            <a:r>
              <a:t> register_date </a:t>
            </a:r>
          </a:p>
          <a:p>
            <a:r>
              <a:t> policy_status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87287" y="5577840"/>
            <a:ext cx="5437479" cy="1371600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Identifiers</a:t>
            </a:r>
          </a:p>
          <a:p>
            <a:r>
              <a:t>cont_id (Client ID)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475488"/>
            <a:ext cx="112407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667EEA"/>
                </a:solidFill>
              </a:defRPr>
            </a:pPr>
            <a:r>
              <a:t>📊 Data Extraction from Source (cont'd)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1389888"/>
            <a:ext cx="11240719" cy="548640"/>
          </a:xfrm>
          <a:prstGeom prst="rect">
            <a:avLst/>
          </a:prstGeom>
          <a:solidFill>
            <a:srgbClr val="F8F9FA"/>
          </a:solidFill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667EEA"/>
                </a:solidFill>
              </a:defRPr>
            </a:pPr>
            <a:r>
              <a:t>➕ Client-Level Features (Joined Later)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2029968"/>
            <a:ext cx="11240719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</a:p>
          <a:p>
            <a:r>
              <a:t>In addition to purchase events, several client-level attributes are created separately and joined later to enrich training examples.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3584448"/>
            <a:ext cx="3533546" cy="1371600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💰 Financial Features</a:t>
            </a:r>
          </a:p>
          <a:p>
            <a:r>
              <a:t>acct_val_amt (Account value) </a:t>
            </a:r>
          </a:p>
          <a:p>
            <a:r>
              <a:t> face_amt (Face amount) </a:t>
            </a:r>
          </a:p>
          <a:p>
            <a:r>
              <a:t> cash_val_amt (Cash value) </a:t>
            </a:r>
          </a:p>
          <a:p>
            <a:r>
              <a:t> wc_total_assets (Total assets) </a:t>
            </a:r>
          </a:p>
          <a:p>
            <a:r>
              <a:t> Asset mix: • Stocks • Bonds • Mutual funds • Annuity • Deposits • Other assets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83354" y="3584448"/>
            <a:ext cx="3533546" cy="1371600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👤 Demographic Feature</a:t>
            </a:r>
          </a:p>
          <a:p>
            <a:r>
              <a:t>psn_age (Client age)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1220" y="3584448"/>
            <a:ext cx="3533546" cy="1371600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🏢 Categorical / Business Context</a:t>
            </a:r>
          </a:p>
          <a:p>
            <a:r>
              <a:t>client_seg </a:t>
            </a:r>
          </a:p>
          <a:p>
            <a:r>
              <a:t> client_seg_1 </a:t>
            </a:r>
          </a:p>
          <a:p>
            <a:r>
              <a:t> aum_band </a:t>
            </a:r>
          </a:p>
          <a:p>
            <a:r>
              <a:t> channel </a:t>
            </a:r>
          </a:p>
          <a:p>
            <a:r>
              <a:t> agent_segment </a:t>
            </a:r>
          </a:p>
          <a:p>
            <a:r>
              <a:t> branchoffice_code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5093208"/>
            <a:ext cx="11240719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🔗 How These Features Are Combined</a:t>
            </a:r>
          </a:p>
          <a:p>
            <a:r>
              <a:t>Client-level features are joined to purchase events using a LEFT JOIN . </a:t>
            </a:r>
          </a:p>
          <a:p>
            <a:r>
              <a:t> Why LEFT JOIN? • Preservesall training examples • Avoids dropping valid purchase histories • Handles missing client attributes safely This ensures learning is driven by behavior first, with attributes as enrichment.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475488"/>
            <a:ext cx="112407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667EEA"/>
                </a:solidFill>
              </a:defRPr>
            </a:pPr>
            <a:r>
              <a:t>📊 Data Extraction from Source (cont'd)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1389888"/>
            <a:ext cx="11240719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🔀 How This Data Is Used for Training &amp; Testing</a:t>
            </a:r>
          </a:p>
          <a:p>
            <a:r>
              <a:t>This extracted data is not used for training yet . </a:t>
            </a:r>
          </a:p>
          <a:p>
            <a:r>
              <a:t> In later steps: • Events are ordered into client timelines • Timelines are converted into learning examples • Examples are split into:Training (80%)– model learningValidation (10%)– tuning &amp; overfitting controlTest (10%)– final unbiased evaluation Step 1 guarantees all three sets are built on clean, trustworthy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182880"/>
            <a:ext cx="112407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🧠 Model Training – How the Model Learns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1371600"/>
            <a:ext cx="11240719" cy="548640"/>
          </a:xfrm>
          <a:prstGeom prst="rect">
            <a:avLst/>
          </a:prstGeom>
          <a:solidFill>
            <a:srgbClr val="F8F9FA"/>
          </a:solidFill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667EEA"/>
                </a:solidFill>
              </a:defRPr>
            </a:pPr>
            <a:r>
              <a:t>📊 Training Data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2011680"/>
            <a:ext cx="2444419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txBody>
          <a:bodyPr wrap="square" tIns="91440" bIns="91440">
            <a:spAutoFit/>
          </a:bodyPr>
          <a:lstStyle/>
          <a:p/>
          <a:p>
            <a:pPr algn="ctr">
              <a:spcAft>
                <a:spcPts val="400"/>
              </a:spcAft>
              <a:defRPr sz="2800">
                <a:solidFill>
                  <a:srgbClr val="555555"/>
                </a:solidFill>
              </a:defRPr>
            </a:pPr>
            <a:r>
              <a:t>📦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555555"/>
                </a:solidFill>
              </a:defRPr>
            </a:pPr>
            <a:r>
              <a:t>Prepared Learning Data</a:t>
            </a: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t>Clean and structured data from earlier steps.</a:t>
            </a: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t>Each example includes: • Client purchase history • Client profile • Actual next product bought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28467" y="27432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011680"/>
            <a:ext cx="2444419" cy="1828800"/>
          </a:xfrm>
          <a:prstGeom prst="rect">
            <a:avLst/>
          </a:prstGeom>
          <a:solidFill>
            <a:srgbClr val="667EEA"/>
          </a:solidFill>
          <a:ln w="25400">
            <a:solidFill>
              <a:srgbClr val="667EEA"/>
            </a:solidFill>
          </a:ln>
        </p:spPr>
        <p:txBody>
          <a:bodyPr wrap="square" tIns="91440" bIns="91440">
            <a:spAutoFit/>
          </a:bodyPr>
          <a:lstStyle/>
          <a:p/>
          <a:p>
            <a:pPr algn="ctr">
              <a:spcAft>
                <a:spcPts val="400"/>
              </a:spcAft>
              <a:defRPr sz="2800">
                <a:solidFill>
                  <a:srgbClr val="FFFFFF"/>
                </a:solidFill>
              </a:defRPr>
            </a:pPr>
            <a:r>
              <a:t>🎓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FFFFFF"/>
                </a:solidFill>
              </a:defRPr>
            </a:pPr>
            <a:r>
              <a:t>Training Set (80%)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Used to teach the model.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Learns patterns from historical behavior.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85667" y="27432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2011680"/>
            <a:ext cx="2444419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txBody>
          <a:bodyPr wrap="square" tIns="91440" bIns="91440">
            <a:spAutoFit/>
          </a:bodyPr>
          <a:lstStyle/>
          <a:p/>
          <a:p>
            <a:pPr algn="ctr">
              <a:spcAft>
                <a:spcPts val="400"/>
              </a:spcAft>
              <a:defRPr sz="2800">
                <a:solidFill>
                  <a:srgbClr val="555555"/>
                </a:solidFill>
              </a:defRPr>
            </a:pPr>
            <a:r>
              <a:t>🧪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555555"/>
                </a:solidFill>
              </a:defRPr>
            </a:pPr>
            <a:r>
              <a:t>Validation Set (10%)</a:t>
            </a: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t>Used during training to: • Monitor learning quality • Prevent overfitting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2867" y="27432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47088" y="2011680"/>
            <a:ext cx="2444419" cy="1828800"/>
          </a:xfrm>
          <a:prstGeom prst="rect">
            <a:avLst/>
          </a:prstGeom>
          <a:solidFill>
            <a:srgbClr val="11998E"/>
          </a:solidFill>
          <a:ln w="25400">
            <a:solidFill>
              <a:srgbClr val="11998E"/>
            </a:solidFill>
          </a:ln>
        </p:spPr>
        <p:txBody>
          <a:bodyPr wrap="square" tIns="91440" bIns="91440">
            <a:spAutoFit/>
          </a:bodyPr>
          <a:lstStyle/>
          <a:p/>
          <a:p>
            <a:pPr algn="ctr">
              <a:spcAft>
                <a:spcPts val="400"/>
              </a:spcAft>
              <a:defRPr sz="2800">
                <a:solidFill>
                  <a:srgbClr val="FFFFFF"/>
                </a:solidFill>
              </a:defRPr>
            </a:pPr>
            <a:r>
              <a:t>🏁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FFFFFF"/>
                </a:solidFill>
              </a:defRPr>
            </a:pPr>
            <a:r>
              <a:t>Test Set (10%)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Never shown during training.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Confirms real-world performance.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4023360"/>
            <a:ext cx="11240719" cy="548640"/>
          </a:xfrm>
          <a:prstGeom prst="rect">
            <a:avLst/>
          </a:prstGeom>
          <a:solidFill>
            <a:srgbClr val="F8F9FA"/>
          </a:solidFill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667EEA"/>
                </a:solidFill>
              </a:defRPr>
            </a:pPr>
            <a:r>
              <a:t>🤖 How the Model Learns Patterns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4663440"/>
            <a:ext cx="3411626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txBody>
          <a:bodyPr wrap="square" tIns="91440" bIns="91440">
            <a:spAutoFit/>
          </a:bodyPr>
          <a:lstStyle/>
          <a:p/>
          <a:p>
            <a:pPr algn="ctr">
              <a:spcAft>
                <a:spcPts val="400"/>
              </a:spcAft>
              <a:defRPr sz="2800">
                <a:solidFill>
                  <a:srgbClr val="555555"/>
                </a:solidFill>
              </a:defRPr>
            </a:pPr>
            <a:r>
              <a:t>🔍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555555"/>
                </a:solidFill>
              </a:defRPr>
            </a:pPr>
            <a:r>
              <a:t>Study Past Clients</a:t>
            </a: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t>The model analyzes millions of past client journeys.</a:t>
            </a: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t>It observes what clients bought first and what came next.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5674" y="539496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663440"/>
            <a:ext cx="3411626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txBody>
          <a:bodyPr wrap="square" tIns="91440" bIns="91440">
            <a:spAutoFit/>
          </a:bodyPr>
          <a:lstStyle/>
          <a:p/>
          <a:p>
            <a:pPr algn="ctr">
              <a:spcAft>
                <a:spcPts val="400"/>
              </a:spcAft>
              <a:defRPr sz="2800">
                <a:solidFill>
                  <a:srgbClr val="555555"/>
                </a:solidFill>
              </a:defRPr>
            </a:pPr>
            <a:r>
              <a:t>🌳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555555"/>
                </a:solidFill>
              </a:defRPr>
            </a:pPr>
            <a:r>
              <a:t>Decision Trees</a:t>
            </a: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t>Thousands of decision trees ask questions like: • Age group? • Current product? • Asset level?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2874" y="539496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9888" y="4663440"/>
            <a:ext cx="3411626" cy="1828800"/>
          </a:xfrm>
          <a:prstGeom prst="rect">
            <a:avLst/>
          </a:prstGeom>
          <a:solidFill>
            <a:srgbClr val="667EEA"/>
          </a:solidFill>
          <a:ln w="25400">
            <a:solidFill>
              <a:srgbClr val="667EEA"/>
            </a:solidFill>
          </a:ln>
        </p:spPr>
        <p:txBody>
          <a:bodyPr wrap="square" tIns="91440" bIns="91440">
            <a:spAutoFit/>
          </a:bodyPr>
          <a:lstStyle/>
          <a:p/>
          <a:p>
            <a:pPr algn="ctr">
              <a:spcAft>
                <a:spcPts val="400"/>
              </a:spcAft>
              <a:defRPr sz="2800">
                <a:solidFill>
                  <a:srgbClr val="FFFFFF"/>
                </a:solidFill>
              </a:defRPr>
            </a:pPr>
            <a:r>
              <a:t>📈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FFFFFF"/>
                </a:solidFill>
              </a:defRPr>
            </a:pPr>
            <a:r>
              <a:t>Pattern Learning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Over time, the model learns: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“Clients like this usually buy this product next.”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475488"/>
            <a:ext cx="112407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667EEA"/>
                </a:solidFill>
              </a:defRPr>
            </a:pPr>
            <a:r>
              <a:t>🧠 Model Training – How the Model Learns (cont'd)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1389888"/>
            <a:ext cx="11240719" cy="548640"/>
          </a:xfrm>
          <a:prstGeom prst="rect">
            <a:avLst/>
          </a:prstGeom>
          <a:solidFill>
            <a:srgbClr val="F8F9FA"/>
          </a:solidFill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667EEA"/>
                </a:solidFill>
              </a:defRPr>
            </a:pPr>
            <a:r>
              <a:t>🎯 What Is Multi-Class Classification?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2029968"/>
            <a:ext cx="3411626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txBody>
          <a:bodyPr wrap="square" tIns="91440" bIns="91440">
            <a:spAutoFit/>
          </a:bodyPr>
          <a:lstStyle/>
          <a:p/>
          <a:p>
            <a:pPr algn="ctr">
              <a:spcAft>
                <a:spcPts val="400"/>
              </a:spcAft>
              <a:defRPr sz="2800">
                <a:solidFill>
                  <a:srgbClr val="555555"/>
                </a:solidFill>
              </a:defRPr>
            </a:pPr>
            <a:r>
              <a:t>❓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555555"/>
                </a:solidFill>
              </a:defRPr>
            </a:pPr>
            <a:r>
              <a:t>Not Yes / No</a:t>
            </a: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t>The model does not give a simple yes/no answer.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95674" y="2761488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t>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029968"/>
            <a:ext cx="3411626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txBody>
          <a:bodyPr wrap="square" tIns="91440" bIns="91440">
            <a:spAutoFit/>
          </a:bodyPr>
          <a:lstStyle/>
          <a:p/>
          <a:p>
            <a:pPr algn="ctr">
              <a:spcAft>
                <a:spcPts val="400"/>
              </a:spcAft>
              <a:defRPr sz="2800">
                <a:solidFill>
                  <a:srgbClr val="555555"/>
                </a:solidFill>
              </a:defRPr>
            </a:pPr>
            <a:r>
              <a:t>🔢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555555"/>
                </a:solidFill>
              </a:defRPr>
            </a:pPr>
            <a:r>
              <a:t>Multiple Choices</a:t>
            </a: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t>It evaluates 7 product categories and assigns a probability to each.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2874" y="2761488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9888" y="2029968"/>
            <a:ext cx="3411626" cy="1828800"/>
          </a:xfrm>
          <a:prstGeom prst="rect">
            <a:avLst/>
          </a:prstGeom>
          <a:solidFill>
            <a:srgbClr val="11998E"/>
          </a:solidFill>
          <a:ln w="25400">
            <a:solidFill>
              <a:srgbClr val="11998E"/>
            </a:solidFill>
          </a:ln>
        </p:spPr>
        <p:txBody>
          <a:bodyPr wrap="square" tIns="91440" bIns="91440">
            <a:spAutoFit/>
          </a:bodyPr>
          <a:lstStyle/>
          <a:p/>
          <a:p>
            <a:pPr algn="ctr">
              <a:spcAft>
                <a:spcPts val="400"/>
              </a:spcAft>
              <a:defRPr sz="2800">
                <a:solidFill>
                  <a:srgbClr val="FFFFFF"/>
                </a:solidFill>
              </a:defRPr>
            </a:pPr>
            <a:r>
              <a:t>📊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FFFFFF"/>
                </a:solidFill>
              </a:defRPr>
            </a:pPr>
            <a:r>
              <a:t>Probability Output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All probabilities add up to 100%.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The highest one becomes the recommendation.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4041648"/>
            <a:ext cx="11240719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🧩 Simple Example</a:t>
            </a:r>
          </a:p>
          <a:p>
            <a:r>
              <a:t>For a client with only a Retirement account: • Life Insurance →96% • Investment → 2% • Health → 1% • Others → 1% The model confidently recommends Life Insurance 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182880"/>
            <a:ext cx="112407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🔮 How the Model Predicts for New Clients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1371600"/>
            <a:ext cx="11240719" cy="548640"/>
          </a:xfrm>
          <a:prstGeom prst="rect">
            <a:avLst/>
          </a:prstGeom>
          <a:solidFill>
            <a:srgbClr val="F8F9FA"/>
          </a:solidFill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667EEA"/>
                </a:solidFill>
              </a:defRPr>
            </a:pPr>
            <a:r>
              <a:t>Understanding the Prediction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2011680"/>
            <a:ext cx="1864095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txBody>
          <a:bodyPr wrap="square" tIns="91440" bIns="91440">
            <a:spAutoFit/>
          </a:bodyPr>
          <a:lstStyle/>
          <a:p/>
          <a:p>
            <a:pPr algn="ctr">
              <a:spcAft>
                <a:spcPts val="400"/>
              </a:spcAft>
              <a:defRPr sz="2800">
                <a:solidFill>
                  <a:srgbClr val="555555"/>
                </a:solidFill>
              </a:defRPr>
            </a:pPr>
            <a:r>
              <a:t>👤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555555"/>
                </a:solidFill>
              </a:defRPr>
            </a:pPr>
            <a:r>
              <a:t>New Client Data</a:t>
            </a: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t>Example Client:</a:t>
            </a: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t>• Age: 58</a:t>
            </a: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t>• Has: Retirement account</a:t>
            </a: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t>• Assets: $250K</a:t>
            </a: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t>• Channel: Advisor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8143" y="27432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7" y="2011680"/>
            <a:ext cx="1864095" cy="1828800"/>
          </a:xfrm>
          <a:prstGeom prst="rect">
            <a:avLst/>
          </a:prstGeom>
          <a:solidFill>
            <a:srgbClr val="667EEA"/>
          </a:solidFill>
          <a:ln w="25400">
            <a:solidFill>
              <a:srgbClr val="667EEA"/>
            </a:solidFill>
          </a:ln>
        </p:spPr>
        <p:txBody>
          <a:bodyPr wrap="square" tIns="91440" bIns="91440">
            <a:spAutoFit/>
          </a:bodyPr>
          <a:lstStyle/>
          <a:p/>
          <a:p>
            <a:pPr algn="ctr">
              <a:spcAft>
                <a:spcPts val="400"/>
              </a:spcAft>
              <a:defRPr sz="2800">
                <a:solidFill>
                  <a:srgbClr val="FFFFFF"/>
                </a:solidFill>
              </a:defRPr>
            </a:pPr>
            <a:r>
              <a:t>🔧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FFFFFF"/>
                </a:solidFill>
              </a:defRPr>
            </a:pPr>
            <a:r>
              <a:t>Feature Preparation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Convert to same 39 features: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• Purchase history: [Retirement]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• Age: 58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• Asset data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• Channel code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• All other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5343" y="27432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7" y="2011680"/>
            <a:ext cx="1864095" cy="1828800"/>
          </a:xfrm>
          <a:prstGeom prst="rect">
            <a:avLst/>
          </a:prstGeom>
          <a:solidFill>
            <a:srgbClr val="667EEA"/>
          </a:solidFill>
          <a:ln w="25400">
            <a:solidFill>
              <a:srgbClr val="667EEA"/>
            </a:solidFill>
          </a:ln>
        </p:spPr>
        <p:txBody>
          <a:bodyPr wrap="square" tIns="91440" bIns="91440">
            <a:spAutoFit/>
          </a:bodyPr>
          <a:lstStyle/>
          <a:p/>
          <a:p>
            <a:pPr algn="ctr">
              <a:spcAft>
                <a:spcPts val="400"/>
              </a:spcAft>
              <a:defRPr sz="2800">
                <a:solidFill>
                  <a:srgbClr val="FFFFFF"/>
                </a:solidFill>
              </a:defRPr>
            </a:pPr>
            <a:r>
              <a:t>🤖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FFFFFF"/>
                </a:solidFill>
              </a:defRPr>
            </a:pPr>
            <a:r>
              <a:t>Model Processing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Model searches trained patterns: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"Clients similar to this one typically bought..."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Runs through 2,000 decision trees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2543" y="27432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47087" y="2011680"/>
            <a:ext cx="1864095" cy="1828800"/>
          </a:xfrm>
          <a:prstGeom prst="rect">
            <a:avLst/>
          </a:prstGeom>
          <a:solidFill>
            <a:srgbClr val="11998E"/>
          </a:solidFill>
          <a:ln w="25400">
            <a:solidFill>
              <a:srgbClr val="11998E"/>
            </a:solidFill>
          </a:ln>
        </p:spPr>
        <p:txBody>
          <a:bodyPr wrap="square" tIns="91440" bIns="91440">
            <a:spAutoFit/>
          </a:bodyPr>
          <a:lstStyle/>
          <a:p/>
          <a:p>
            <a:pPr algn="ctr">
              <a:spcAft>
                <a:spcPts val="400"/>
              </a:spcAft>
              <a:defRPr sz="2800">
                <a:solidFill>
                  <a:srgbClr val="FFFFFF"/>
                </a:solidFill>
              </a:defRPr>
            </a:pPr>
            <a:r>
              <a:t>📊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FFFFFF"/>
                </a:solidFill>
              </a:defRPr>
            </a:pPr>
            <a:r>
              <a:t>Probability Output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For all 7 products: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Life Insurance: 96%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Investment: 2%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Health: 1%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Disability: 0.5%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Network: 0.3%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Retirement: 0.1%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Other: 0.1%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9743" y="27432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04288" y="2011680"/>
            <a:ext cx="1864095" cy="1828800"/>
          </a:xfrm>
          <a:prstGeom prst="rect">
            <a:avLst/>
          </a:prstGeom>
          <a:solidFill>
            <a:srgbClr val="4FACFE"/>
          </a:solidFill>
          <a:ln w="25400">
            <a:solidFill>
              <a:srgbClr val="4FACFE"/>
            </a:solidFill>
          </a:ln>
        </p:spPr>
        <p:txBody>
          <a:bodyPr wrap="square" tIns="91440" bIns="91440">
            <a:spAutoFit/>
          </a:bodyPr>
          <a:lstStyle/>
          <a:p/>
          <a:p>
            <a:pPr algn="ctr">
              <a:spcAft>
                <a:spcPts val="400"/>
              </a:spcAft>
              <a:defRPr sz="2800">
                <a:solidFill>
                  <a:srgbClr val="FFFFFF"/>
                </a:solidFill>
              </a:defRPr>
            </a:pPr>
            <a:r>
              <a:t>✅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FFFFFF"/>
                </a:solidFill>
              </a:defRPr>
            </a:pPr>
            <a:r>
              <a:t>Final Recommendation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If confidence ≥95%: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Recommend Life Insurance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If &lt;95%: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No recommendation (not confident enough)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4023360"/>
            <a:ext cx="11240719" cy="548640"/>
          </a:xfrm>
          <a:prstGeom prst="rect">
            <a:avLst/>
          </a:prstGeom>
          <a:solidFill>
            <a:srgbClr val="F8F9FA"/>
          </a:solidFill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667EEA"/>
                </a:solidFill>
              </a:defRPr>
            </a:pPr>
            <a:r>
              <a:t>💡 What Makes the Model Confident?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182880"/>
            <a:ext cx="112407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🔄 Monthly Pipeline - Processing New Clients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1371600"/>
            <a:ext cx="1864095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txBody>
          <a:bodyPr wrap="square" tIns="91440" bIns="91440">
            <a:spAutoFit/>
          </a:bodyPr>
          <a:lstStyle/>
          <a:p/>
          <a:p>
            <a:pPr algn="ctr">
              <a:spcAft>
                <a:spcPts val="400"/>
              </a:spcAft>
              <a:defRPr sz="2800">
                <a:solidFill>
                  <a:srgbClr val="555555"/>
                </a:solidFill>
              </a:defRPr>
            </a:pPr>
            <a:r>
              <a:t>📅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555555"/>
                </a:solidFill>
              </a:defRPr>
            </a:pPr>
            <a:r>
              <a:t>12th of Month</a:t>
            </a: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t>Automated Trigger</a:t>
            </a: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t>Pipeline runs automatically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8143" y="21031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t>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7" y="1371600"/>
            <a:ext cx="1864095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txBody>
          <a:bodyPr wrap="square" tIns="91440" bIns="91440">
            <a:spAutoFit/>
          </a:bodyPr>
          <a:lstStyle/>
          <a:p/>
          <a:p>
            <a:pPr algn="ctr">
              <a:spcAft>
                <a:spcPts val="400"/>
              </a:spcAft>
              <a:defRPr sz="2800">
                <a:solidFill>
                  <a:srgbClr val="555555"/>
                </a:solidFill>
              </a:defRPr>
            </a:pPr>
            <a:r>
              <a:t>💾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555555"/>
                </a:solidFill>
              </a:defRPr>
            </a:pPr>
            <a:r>
              <a:t>Extract Latest Data</a:t>
            </a: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t>Pull current month data from Databricks</a:t>
            </a: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t>Filters:</a:t>
            </a: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t>• Exactly 1 product</a:t>
            </a: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t>• Branch code 83</a:t>
            </a: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t>• Active 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05343" y="21031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9887" y="1371600"/>
            <a:ext cx="1864095" cy="1828800"/>
          </a:xfrm>
          <a:prstGeom prst="rect">
            <a:avLst/>
          </a:prstGeom>
          <a:solidFill>
            <a:srgbClr val="667EEA"/>
          </a:solidFill>
          <a:ln w="25400">
            <a:solidFill>
              <a:srgbClr val="667EEA"/>
            </a:solidFill>
          </a:ln>
        </p:spPr>
        <p:txBody>
          <a:bodyPr wrap="square" tIns="91440" bIns="91440">
            <a:spAutoFit/>
          </a:bodyPr>
          <a:lstStyle/>
          <a:p/>
          <a:p>
            <a:pPr algn="ctr">
              <a:spcAft>
                <a:spcPts val="400"/>
              </a:spcAft>
              <a:defRPr sz="2800">
                <a:solidFill>
                  <a:srgbClr val="FFFFFF"/>
                </a:solidFill>
              </a:defRPr>
            </a:pPr>
            <a:r>
              <a:t>🔧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FFFFFF"/>
                </a:solidFill>
              </a:defRPr>
            </a:pPr>
            <a:r>
              <a:t>Prepare Features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Same process as training: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• Convert products to categories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• Build all 39 features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• Handle missing values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• Encode categories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62543" y="21031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7" y="1371600"/>
            <a:ext cx="1864095" cy="1828800"/>
          </a:xfrm>
          <a:prstGeom prst="rect">
            <a:avLst/>
          </a:prstGeom>
          <a:solidFill>
            <a:srgbClr val="667EEA"/>
          </a:solidFill>
          <a:ln w="25400">
            <a:solidFill>
              <a:srgbClr val="667EEA"/>
            </a:solidFill>
          </a:ln>
        </p:spPr>
        <p:txBody>
          <a:bodyPr wrap="square" tIns="91440" bIns="91440">
            <a:spAutoFit/>
          </a:bodyPr>
          <a:lstStyle/>
          <a:p/>
          <a:p>
            <a:pPr algn="ctr">
              <a:spcAft>
                <a:spcPts val="400"/>
              </a:spcAft>
              <a:defRPr sz="2800">
                <a:solidFill>
                  <a:srgbClr val="FFFFFF"/>
                </a:solidFill>
              </a:defRPr>
            </a:pPr>
            <a:r>
              <a:t>🤖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FFFFFF"/>
                </a:solidFill>
              </a:defRPr>
            </a:pPr>
            <a:r>
              <a:t>Load Trained Model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Uses SAME model trained earlier (not retrained)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From MLflow registry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9743" y="21031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04288" y="1371600"/>
            <a:ext cx="1864095" cy="1828800"/>
          </a:xfrm>
          <a:prstGeom prst="rect">
            <a:avLst/>
          </a:prstGeom>
          <a:solidFill>
            <a:srgbClr val="11998E"/>
          </a:solidFill>
          <a:ln w="25400">
            <a:solidFill>
              <a:srgbClr val="11998E"/>
            </a:solidFill>
          </a:ln>
        </p:spPr>
        <p:txBody>
          <a:bodyPr wrap="square" tIns="91440" bIns="91440">
            <a:spAutoFit/>
          </a:bodyPr>
          <a:lstStyle/>
          <a:p/>
          <a:p>
            <a:pPr algn="ctr">
              <a:spcAft>
                <a:spcPts val="400"/>
              </a:spcAft>
              <a:defRPr sz="2800">
                <a:solidFill>
                  <a:srgbClr val="FFFFFF"/>
                </a:solidFill>
              </a:defRPr>
            </a:pPr>
            <a:r>
              <a:t>🎯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FFFFFF"/>
                </a:solidFill>
              </a:defRPr>
            </a:pPr>
            <a:r>
              <a:t>Generate Predictions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Model predicts for each client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Only keep: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Predictions ≥95% confidence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3383280"/>
            <a:ext cx="2444419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txBody>
          <a:bodyPr wrap="square" tIns="91440" bIns="91440">
            <a:spAutoFit/>
          </a:bodyPr>
          <a:lstStyle/>
          <a:p/>
          <a:p>
            <a:pPr algn="ctr">
              <a:spcAft>
                <a:spcPts val="400"/>
              </a:spcAft>
              <a:defRPr sz="2800">
                <a:solidFill>
                  <a:srgbClr val="555555"/>
                </a:solidFill>
              </a:defRPr>
            </a:pPr>
            <a:r>
              <a:t>💬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555555"/>
                </a:solidFill>
              </a:defRPr>
            </a:pPr>
            <a:r>
              <a:t>SHAP Analysis</a:t>
            </a: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t>Explains WHY:</a:t>
            </a: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t>"Recommended because of age, current product, and asset level"</a:t>
            </a: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t>Creates natural language talking points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28467" y="4114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3383280"/>
            <a:ext cx="2444419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txBody>
          <a:bodyPr wrap="square" tIns="91440" bIns="91440">
            <a:spAutoFit/>
          </a:bodyPr>
          <a:lstStyle/>
          <a:p/>
          <a:p>
            <a:pPr algn="ctr">
              <a:spcAft>
                <a:spcPts val="400"/>
              </a:spcAft>
              <a:defRPr sz="2800">
                <a:solidFill>
                  <a:srgbClr val="555555"/>
                </a:solidFill>
              </a:defRPr>
            </a:pPr>
            <a:r>
              <a:t>👥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555555"/>
                </a:solidFill>
              </a:defRPr>
            </a:pPr>
            <a:r>
              <a:t>Join Demographics</a:t>
            </a: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t>Add client contact info, advisor details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85667" y="4114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9888" y="3383280"/>
            <a:ext cx="2444419" cy="1828800"/>
          </a:xfrm>
          <a:prstGeom prst="rect">
            <a:avLst/>
          </a:prstGeom>
          <a:solidFill>
            <a:srgbClr val="4FACFE"/>
          </a:solidFill>
          <a:ln w="25400">
            <a:solidFill>
              <a:srgbClr val="4FACFE"/>
            </a:solidFill>
          </a:ln>
        </p:spPr>
        <p:txBody>
          <a:bodyPr wrap="square" tIns="91440" bIns="91440">
            <a:spAutoFit/>
          </a:bodyPr>
          <a:lstStyle/>
          <a:p/>
          <a:p>
            <a:pPr algn="ctr">
              <a:spcAft>
                <a:spcPts val="400"/>
              </a:spcAft>
              <a:defRPr sz="2800">
                <a:solidFill>
                  <a:srgbClr val="FFFFFF"/>
                </a:solidFill>
              </a:defRPr>
            </a:pPr>
            <a:r>
              <a:t>💾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FFFFFF"/>
                </a:solidFill>
              </a:defRPr>
            </a:pPr>
            <a:r>
              <a:t>Save Results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Output Table: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eda_smartlist...standalone_tp_predictions_single_policy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Typical Output: 1,500-2,000 clients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2867" y="4114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47088" y="3383280"/>
            <a:ext cx="2444419" cy="1828800"/>
          </a:xfrm>
          <a:prstGeom prst="rect">
            <a:avLst/>
          </a:prstGeom>
          <a:solidFill>
            <a:srgbClr val="11998E"/>
          </a:solidFill>
          <a:ln w="25400">
            <a:solidFill>
              <a:srgbClr val="11998E"/>
            </a:solidFill>
          </a:ln>
        </p:spPr>
        <p:txBody>
          <a:bodyPr wrap="square" tIns="91440" bIns="91440">
            <a:spAutoFit/>
          </a:bodyPr>
          <a:lstStyle/>
          <a:p/>
          <a:p>
            <a:pPr algn="ctr">
              <a:spcAft>
                <a:spcPts val="400"/>
              </a:spcAft>
              <a:defRPr sz="2800">
                <a:solidFill>
                  <a:srgbClr val="FFFFFF"/>
                </a:solidFill>
              </a:defRPr>
            </a:pPr>
            <a:r>
              <a:t>📞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FFFFFF"/>
                </a:solidFill>
              </a:defRPr>
            </a:pPr>
            <a:r>
              <a:t>Advisor Action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Advisors receive list with: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• Client name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• Recommended product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• Confidence score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• Talking points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" y="5394960"/>
            <a:ext cx="3533546" cy="1097280"/>
          </a:xfrm>
          <a:prstGeom prst="rect">
            <a:avLst/>
          </a:prstGeom>
          <a:solidFill>
            <a:srgbClr val="11998E"/>
          </a:solidFill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1,500-2,000</a:t>
            </a:r>
          </a:p>
          <a:p>
            <a:r>
              <a:t>High-Confidence Leads Monthly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83354" y="5394960"/>
            <a:ext cx="3533546" cy="1097280"/>
          </a:xfrm>
          <a:prstGeom prst="rect">
            <a:avLst/>
          </a:prstGeom>
          <a:solidFill>
            <a:srgbClr val="11998E"/>
          </a:solidFill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≥95%</a:t>
            </a:r>
          </a:p>
          <a:p>
            <a:r>
              <a:t>Prediction Confidence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1220" y="5394960"/>
            <a:ext cx="3533546" cy="1097280"/>
          </a:xfrm>
          <a:prstGeom prst="rect">
            <a:avLst/>
          </a:prstGeom>
          <a:solidFill>
            <a:srgbClr val="11998E"/>
          </a:solidFill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100%</a:t>
            </a:r>
          </a:p>
          <a:p>
            <a:r>
              <a:t>Automated Process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182880"/>
            <a:ext cx="112407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💼 Cross-sell Output &amp; Business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1371600"/>
            <a:ext cx="3411626" cy="1828800"/>
          </a:xfrm>
          <a:prstGeom prst="rect">
            <a:avLst/>
          </a:prstGeom>
          <a:solidFill>
            <a:srgbClr val="4FACFE"/>
          </a:solidFill>
          <a:ln w="25400">
            <a:solidFill>
              <a:srgbClr val="4FACFE"/>
            </a:solidFill>
          </a:ln>
        </p:spPr>
        <p:txBody>
          <a:bodyPr wrap="square" tIns="91440" bIns="91440">
            <a:spAutoFit/>
          </a:bodyPr>
          <a:lstStyle/>
          <a:p/>
          <a:p>
            <a:pPr algn="ctr">
              <a:spcAft>
                <a:spcPts val="400"/>
              </a:spcAft>
              <a:defRPr sz="2800">
                <a:solidFill>
                  <a:srgbClr val="FFFFFF"/>
                </a:solidFill>
              </a:defRPr>
            </a:pPr>
            <a:r>
              <a:t>📋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FFFFFF"/>
                </a:solidFill>
              </a:defRPr>
            </a:pPr>
            <a:r>
              <a:t>Prediction Results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For each client: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• Client ID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• Current product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• Recommended product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• Confidence score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• All demographics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95674" y="21031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t>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1371600"/>
            <a:ext cx="3411626" cy="1828800"/>
          </a:xfrm>
          <a:prstGeom prst="rect">
            <a:avLst/>
          </a:prstGeom>
          <a:solidFill>
            <a:srgbClr val="667EEA"/>
          </a:solidFill>
          <a:ln w="25400">
            <a:solidFill>
              <a:srgbClr val="667EEA"/>
            </a:solidFill>
          </a:ln>
        </p:spPr>
        <p:txBody>
          <a:bodyPr wrap="square" tIns="91440" bIns="91440">
            <a:spAutoFit/>
          </a:bodyPr>
          <a:lstStyle/>
          <a:p/>
          <a:p>
            <a:pPr algn="ctr">
              <a:spcAft>
                <a:spcPts val="400"/>
              </a:spcAft>
              <a:defRPr sz="2800">
                <a:solidFill>
                  <a:srgbClr val="FFFFFF"/>
                </a:solidFill>
              </a:defRPr>
            </a:pPr>
            <a:r>
              <a:t>💬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FFFFFF"/>
                </a:solidFill>
              </a:defRPr>
            </a:pPr>
            <a:r>
              <a:t>Talking Points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Natural language explanations: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"Based on similar clients in your age group with retirement accounts, life insurance is typically the next product of interest"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2874" y="21031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9888" y="1371600"/>
            <a:ext cx="3411626" cy="1828800"/>
          </a:xfrm>
          <a:prstGeom prst="rect">
            <a:avLst/>
          </a:prstGeom>
          <a:solidFill>
            <a:srgbClr val="11998E"/>
          </a:solidFill>
          <a:ln w="25400">
            <a:solidFill>
              <a:srgbClr val="11998E"/>
            </a:solidFill>
          </a:ln>
        </p:spPr>
        <p:txBody>
          <a:bodyPr wrap="square" tIns="91440" bIns="91440">
            <a:spAutoFit/>
          </a:bodyPr>
          <a:lstStyle/>
          <a:p/>
          <a:p>
            <a:pPr algn="ctr">
              <a:spcAft>
                <a:spcPts val="400"/>
              </a:spcAft>
              <a:defRPr sz="2800">
                <a:solidFill>
                  <a:srgbClr val="FFFFFF"/>
                </a:solidFill>
              </a:defRPr>
            </a:pPr>
            <a:r>
              <a:t>📞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FFFFFF"/>
                </a:solidFill>
              </a:defRPr>
            </a:pPr>
            <a:r>
              <a:t>Advisor Action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Advisors can: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• Prioritize outreach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• Personalize conversations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• Use data-backed reasons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• Increase success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3383280"/>
            <a:ext cx="2581579" cy="1097280"/>
          </a:xfrm>
          <a:prstGeom prst="rect">
            <a:avLst/>
          </a:prstGeom>
          <a:solidFill>
            <a:srgbClr val="11998E"/>
          </a:solidFill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85%</a:t>
            </a:r>
          </a:p>
          <a:p>
            <a:r>
              <a:t>Prediction 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1387" y="3383280"/>
            <a:ext cx="2581579" cy="1097280"/>
          </a:xfrm>
          <a:prstGeom prst="rect">
            <a:avLst/>
          </a:prstGeom>
          <a:solidFill>
            <a:srgbClr val="11998E"/>
          </a:solidFill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1,500-2,000</a:t>
            </a:r>
          </a:p>
          <a:p>
            <a:r>
              <a:t>Monthly Qualified Leads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87287" y="3383280"/>
            <a:ext cx="2581579" cy="1097280"/>
          </a:xfrm>
          <a:prstGeom prst="rect">
            <a:avLst/>
          </a:prstGeom>
          <a:solidFill>
            <a:srgbClr val="11998E"/>
          </a:solidFill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≥95%</a:t>
            </a:r>
          </a:p>
          <a:p>
            <a:r>
              <a:t>Confidence Threshold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43187" y="3383280"/>
            <a:ext cx="2581579" cy="1097280"/>
          </a:xfrm>
          <a:prstGeom prst="rect">
            <a:avLst/>
          </a:prstGeom>
          <a:solidFill>
            <a:srgbClr val="11998E"/>
          </a:solidFill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0</a:t>
            </a:r>
          </a:p>
          <a:p>
            <a:r>
              <a:t>Manual Effort Required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182880"/>
            <a:ext cx="112407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🔄 Complete Pipeline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1371600"/>
            <a:ext cx="11240719" cy="548640"/>
          </a:xfrm>
          <a:prstGeom prst="rect">
            <a:avLst/>
          </a:prstGeom>
          <a:solidFill>
            <a:srgbClr val="F8F9FA"/>
          </a:solidFill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667EEA"/>
                </a:solidFill>
              </a:defRPr>
            </a:pPr>
            <a:r>
              <a:t>📊 One-Time Model Training (Already Completed)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2011680"/>
            <a:ext cx="1864095" cy="1828800"/>
          </a:xfrm>
          <a:prstGeom prst="rect">
            <a:avLst/>
          </a:prstGeom>
          <a:solidFill>
            <a:srgbClr val="4FACFE"/>
          </a:solidFill>
          <a:ln w="25400">
            <a:solidFill>
              <a:srgbClr val="4FACFE"/>
            </a:solidFill>
          </a:ln>
        </p:spPr>
        <p:txBody>
          <a:bodyPr wrap="square" tIns="91440" bIns="91440">
            <a:spAutoFit/>
          </a:bodyPr>
          <a:lstStyle/>
          <a:p/>
          <a:p>
            <a:pPr algn="ctr">
              <a:spcAft>
                <a:spcPts val="400"/>
              </a:spcAft>
              <a:defRPr sz="2800">
                <a:solidFill>
                  <a:srgbClr val="FFFFFF"/>
                </a:solidFill>
              </a:defRPr>
            </a:pPr>
            <a:r>
              <a:t>💾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FFFFFF"/>
                </a:solidFill>
              </a:defRPr>
            </a:pPr>
            <a:r>
              <a:t>Extract 48M+ Records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8143" y="27432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7" y="2011680"/>
            <a:ext cx="1864095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txBody>
          <a:bodyPr wrap="square" tIns="91440" bIns="91440">
            <a:spAutoFit/>
          </a:bodyPr>
          <a:lstStyle/>
          <a:p/>
          <a:p>
            <a:pPr algn="ctr">
              <a:spcAft>
                <a:spcPts val="400"/>
              </a:spcAft>
              <a:defRPr sz="2800">
                <a:solidFill>
                  <a:srgbClr val="555555"/>
                </a:solidFill>
              </a:defRPr>
            </a:pPr>
            <a:r>
              <a:t>🔧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555555"/>
                </a:solidFill>
              </a:defRPr>
            </a:pPr>
            <a:r>
              <a:t>Prepare &amp; Engineer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5343" y="27432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7" y="2011680"/>
            <a:ext cx="1864095" cy="1828800"/>
          </a:xfrm>
          <a:prstGeom prst="rect">
            <a:avLst/>
          </a:prstGeom>
          <a:solidFill>
            <a:srgbClr val="667EEA"/>
          </a:solidFill>
          <a:ln w="25400">
            <a:solidFill>
              <a:srgbClr val="667EEA"/>
            </a:solidFill>
          </a:ln>
        </p:spPr>
        <p:txBody>
          <a:bodyPr wrap="square" tIns="91440" bIns="91440">
            <a:spAutoFit/>
          </a:bodyPr>
          <a:lstStyle/>
          <a:p/>
          <a:p>
            <a:pPr algn="ctr">
              <a:spcAft>
                <a:spcPts val="400"/>
              </a:spcAft>
              <a:defRPr sz="2800">
                <a:solidFill>
                  <a:srgbClr val="FFFFFF"/>
                </a:solidFill>
              </a:defRPr>
            </a:pPr>
            <a:r>
              <a:t>🧠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FFFFFF"/>
                </a:solidFill>
              </a:defRPr>
            </a:pPr>
            <a:r>
              <a:t>Train LightGBM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2543" y="27432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47087" y="2011680"/>
            <a:ext cx="1864095" cy="1828800"/>
          </a:xfrm>
          <a:prstGeom prst="rect">
            <a:avLst/>
          </a:prstGeom>
          <a:solidFill>
            <a:srgbClr val="11998E"/>
          </a:solidFill>
          <a:ln w="25400">
            <a:solidFill>
              <a:srgbClr val="11998E"/>
            </a:solidFill>
          </a:ln>
        </p:spPr>
        <p:txBody>
          <a:bodyPr wrap="square" tIns="91440" bIns="91440">
            <a:spAutoFit/>
          </a:bodyPr>
          <a:lstStyle/>
          <a:p/>
          <a:p>
            <a:pPr algn="ctr">
              <a:spcAft>
                <a:spcPts val="400"/>
              </a:spcAft>
              <a:defRPr sz="2800">
                <a:solidFill>
                  <a:srgbClr val="FFFFFF"/>
                </a:solidFill>
              </a:defRPr>
            </a:pPr>
            <a:r>
              <a:t>✅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FFFFFF"/>
                </a:solidFill>
              </a:defRPr>
            </a:pPr>
            <a:r>
              <a:t>85% Accuracy Achieved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9743" y="27432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04288" y="2011680"/>
            <a:ext cx="1864095" cy="1828800"/>
          </a:xfrm>
          <a:prstGeom prst="rect">
            <a:avLst/>
          </a:prstGeom>
          <a:solidFill>
            <a:srgbClr val="4FACFE"/>
          </a:solidFill>
          <a:ln w="25400">
            <a:solidFill>
              <a:srgbClr val="4FACFE"/>
            </a:solidFill>
          </a:ln>
        </p:spPr>
        <p:txBody>
          <a:bodyPr wrap="square" tIns="91440" bIns="91440">
            <a:spAutoFit/>
          </a:bodyPr>
          <a:lstStyle/>
          <a:p/>
          <a:p>
            <a:pPr algn="ctr">
              <a:spcAft>
                <a:spcPts val="400"/>
              </a:spcAft>
              <a:defRPr sz="2800">
                <a:solidFill>
                  <a:srgbClr val="FFFFFF"/>
                </a:solidFill>
              </a:defRPr>
            </a:pPr>
            <a:r>
              <a:t>💾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FFFFFF"/>
                </a:solidFill>
              </a:defRPr>
            </a:pPr>
            <a:r>
              <a:t>Save to MLflow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4023360"/>
            <a:ext cx="11240719" cy="548640"/>
          </a:xfrm>
          <a:prstGeom prst="rect">
            <a:avLst/>
          </a:prstGeom>
          <a:solidFill>
            <a:srgbClr val="F8F9FA"/>
          </a:solidFill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667EEA"/>
                </a:solidFill>
              </a:defRPr>
            </a:pPr>
            <a:r>
              <a:t>🔄 Monthly Automated Pipeline (Ongoing)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4663440"/>
            <a:ext cx="1200868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txBody>
          <a:bodyPr wrap="square" tIns="91440" bIns="91440">
            <a:spAutoFit/>
          </a:bodyPr>
          <a:lstStyle/>
          <a:p/>
          <a:p>
            <a:pPr algn="ctr">
              <a:spcAft>
                <a:spcPts val="400"/>
              </a:spcAft>
              <a:defRPr sz="2800">
                <a:solidFill>
                  <a:srgbClr val="555555"/>
                </a:solidFill>
              </a:defRPr>
            </a:pPr>
            <a:r>
              <a:t>📅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555555"/>
                </a:solidFill>
              </a:defRPr>
            </a:pPr>
            <a:r>
              <a:t>12th of Month Trigger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84916" y="539496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663440"/>
            <a:ext cx="1200868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txBody>
          <a:bodyPr wrap="square" tIns="91440" bIns="91440">
            <a:spAutoFit/>
          </a:bodyPr>
          <a:lstStyle/>
          <a:p/>
          <a:p>
            <a:pPr algn="ctr">
              <a:spcAft>
                <a:spcPts val="400"/>
              </a:spcAft>
              <a:defRPr sz="2800">
                <a:solidFill>
                  <a:srgbClr val="555555"/>
                </a:solidFill>
              </a:defRPr>
            </a:pPr>
            <a:r>
              <a:t>🔍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555555"/>
                </a:solidFill>
              </a:defRPr>
            </a:pPr>
            <a:r>
              <a:t>Filter Single-Product Clients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42116" y="539496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4663440"/>
            <a:ext cx="1200868" cy="1828800"/>
          </a:xfrm>
          <a:prstGeom prst="rect">
            <a:avLst/>
          </a:prstGeom>
          <a:solidFill>
            <a:srgbClr val="667EEA"/>
          </a:solidFill>
          <a:ln w="25400">
            <a:solidFill>
              <a:srgbClr val="667EEA"/>
            </a:solidFill>
          </a:ln>
        </p:spPr>
        <p:txBody>
          <a:bodyPr wrap="square" tIns="91440" bIns="91440">
            <a:spAutoFit/>
          </a:bodyPr>
          <a:lstStyle/>
          <a:p/>
          <a:p>
            <a:pPr algn="ctr">
              <a:spcAft>
                <a:spcPts val="400"/>
              </a:spcAft>
              <a:defRPr sz="2800">
                <a:solidFill>
                  <a:srgbClr val="FFFFFF"/>
                </a:solidFill>
              </a:defRPr>
            </a:pPr>
            <a:r>
              <a:t>🔧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FFFFFF"/>
                </a:solidFill>
              </a:defRPr>
            </a:pPr>
            <a:r>
              <a:t>Prepare 39 Features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99316" y="539496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47088" y="4663440"/>
            <a:ext cx="1200868" cy="1828800"/>
          </a:xfrm>
          <a:prstGeom prst="rect">
            <a:avLst/>
          </a:prstGeom>
          <a:solidFill>
            <a:srgbClr val="667EEA"/>
          </a:solidFill>
          <a:ln w="25400">
            <a:solidFill>
              <a:srgbClr val="667EEA"/>
            </a:solidFill>
          </a:ln>
        </p:spPr>
        <p:txBody>
          <a:bodyPr wrap="square" tIns="91440" bIns="91440">
            <a:spAutoFit/>
          </a:bodyPr>
          <a:lstStyle/>
          <a:p/>
          <a:p>
            <a:pPr algn="ctr">
              <a:spcAft>
                <a:spcPts val="400"/>
              </a:spcAft>
              <a:defRPr sz="2800">
                <a:solidFill>
                  <a:srgbClr val="FFFFFF"/>
                </a:solidFill>
              </a:defRPr>
            </a:pPr>
            <a:r>
              <a:t>🤖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FFFFFF"/>
                </a:solidFill>
              </a:defRPr>
            </a:pPr>
            <a:r>
              <a:t>Run Trained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56516" y="539496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04288" y="4663440"/>
            <a:ext cx="1200868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txBody>
          <a:bodyPr wrap="square" tIns="91440" bIns="91440">
            <a:spAutoFit/>
          </a:bodyPr>
          <a:lstStyle/>
          <a:p/>
          <a:p>
            <a:pPr algn="ctr">
              <a:spcAft>
                <a:spcPts val="400"/>
              </a:spcAft>
              <a:defRPr sz="2800">
                <a:solidFill>
                  <a:srgbClr val="555555"/>
                </a:solidFill>
              </a:defRPr>
            </a:pPr>
            <a:r>
              <a:t>✂️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555555"/>
                </a:solidFill>
              </a:defRPr>
            </a:pPr>
            <a:r>
              <a:t>Filter ≥95% Confidence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13716" y="539496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61488" y="4663440"/>
            <a:ext cx="1200868" cy="1828800"/>
          </a:xfrm>
          <a:prstGeom prst="rect">
            <a:avLst/>
          </a:prstGeom>
          <a:solidFill>
            <a:srgbClr val="11998E"/>
          </a:solidFill>
          <a:ln w="25400">
            <a:solidFill>
              <a:srgbClr val="11998E"/>
            </a:solidFill>
          </a:ln>
        </p:spPr>
        <p:txBody>
          <a:bodyPr wrap="square" tIns="91440" bIns="91440">
            <a:spAutoFit/>
          </a:bodyPr>
          <a:lstStyle/>
          <a:p/>
          <a:p>
            <a:pPr algn="ctr">
              <a:spcAft>
                <a:spcPts val="400"/>
              </a:spcAft>
              <a:defRPr sz="2800">
                <a:solidFill>
                  <a:srgbClr val="FFFFFF"/>
                </a:solidFill>
              </a:defRPr>
            </a:pPr>
            <a:r>
              <a:t>💬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FFFFFF"/>
                </a:solidFill>
              </a:defRPr>
            </a:pPr>
            <a:r>
              <a:t>Generate Talking Points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70916" y="539496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18688" y="4663440"/>
            <a:ext cx="1200868" cy="1828800"/>
          </a:xfrm>
          <a:prstGeom prst="rect">
            <a:avLst/>
          </a:prstGeom>
          <a:solidFill>
            <a:srgbClr val="4FACFE"/>
          </a:solidFill>
          <a:ln w="25400">
            <a:solidFill>
              <a:srgbClr val="4FACFE"/>
            </a:solidFill>
          </a:ln>
        </p:spPr>
        <p:txBody>
          <a:bodyPr wrap="square" tIns="91440" bIns="91440">
            <a:spAutoFit/>
          </a:bodyPr>
          <a:lstStyle/>
          <a:p/>
          <a:p>
            <a:pPr algn="ctr">
              <a:spcAft>
                <a:spcPts val="400"/>
              </a:spcAft>
              <a:defRPr sz="2800">
                <a:solidFill>
                  <a:srgbClr val="FFFFFF"/>
                </a:solidFill>
              </a:defRPr>
            </a:pPr>
            <a:r>
              <a:t>📞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FFFFFF"/>
                </a:solidFill>
              </a:defRPr>
            </a:pPr>
            <a:r>
              <a:t>Deliver to Advisors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475488"/>
            <a:ext cx="112407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667EEA"/>
                </a:solidFill>
              </a:defRPr>
            </a:pPr>
            <a:r>
              <a:t>🔄 Complete Pipeline Summary (cont'd)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1389888"/>
            <a:ext cx="11240719" cy="731520"/>
          </a:xfrm>
          <a:prstGeom prst="rect">
            <a:avLst/>
          </a:prstGeom>
          <a:solidFill>
            <a:srgbClr val="667EEA"/>
          </a:solidFill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Result:1,500-2,000 high-quality, data-backed cross-sell opportunities delivered to advisors every month with 95%+ confidence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438247" y="25146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667EEA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67047" y="45720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67EEA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182880"/>
            <a:ext cx="112407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📚 Step 2: Building Client Purchase Sequences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1371600"/>
            <a:ext cx="2444419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txBody>
          <a:bodyPr wrap="square" tIns="91440" bIns="91440">
            <a:spAutoFit/>
          </a:bodyPr>
          <a:lstStyle/>
          <a:p/>
          <a:p>
            <a:pPr algn="ctr">
              <a:spcAft>
                <a:spcPts val="400"/>
              </a:spcAft>
              <a:defRPr sz="2800">
                <a:solidFill>
                  <a:srgbClr val="555555"/>
                </a:solidFill>
              </a:defRPr>
            </a:pPr>
            <a:r>
              <a:t>📅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555555"/>
                </a:solidFill>
              </a:defRPr>
            </a:pPr>
            <a:r>
              <a:t>Order Events</a:t>
            </a: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t>Sort purchases by date for each client</a:t>
            </a: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t>Creates timeline:</a:t>
            </a: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t>1st product → 2nd → 3rd...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28467" y="21031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t>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1371600"/>
            <a:ext cx="2444419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txBody>
          <a:bodyPr wrap="square" tIns="91440" bIns="91440">
            <a:spAutoFit/>
          </a:bodyPr>
          <a:lstStyle/>
          <a:p/>
          <a:p>
            <a:pPr algn="ctr">
              <a:spcAft>
                <a:spcPts val="400"/>
              </a:spcAft>
              <a:defRPr sz="2800">
                <a:solidFill>
                  <a:srgbClr val="555555"/>
                </a:solidFill>
              </a:defRPr>
            </a:pPr>
            <a:r>
              <a:t>🔄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555555"/>
                </a:solidFill>
              </a:defRPr>
            </a:pPr>
            <a:r>
              <a:t>Group by Client</a:t>
            </a: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t>Combine all purchases for each client</a:t>
            </a: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t>Example:</a:t>
            </a: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t>Client A: Retirement, Life Insurance, Investment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85667" y="21031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9888" y="1371600"/>
            <a:ext cx="2444419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txBody>
          <a:bodyPr wrap="square" tIns="91440" bIns="91440">
            <a:spAutoFit/>
          </a:bodyPr>
          <a:lstStyle/>
          <a:p/>
          <a:p>
            <a:pPr algn="ctr">
              <a:spcAft>
                <a:spcPts val="400"/>
              </a:spcAft>
              <a:defRPr sz="2800">
                <a:solidFill>
                  <a:srgbClr val="555555"/>
                </a:solidFill>
              </a:defRPr>
            </a:pPr>
            <a:r>
              <a:t>🎯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555555"/>
                </a:solidFill>
              </a:defRPr>
            </a:pPr>
            <a:r>
              <a:t>Remove Duplicates</a:t>
            </a: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t>Remove back-to-back same products</a:t>
            </a: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t>Example:</a:t>
            </a: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t>Retirement, Retirement, Life → Retirement, Life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2867" y="21031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1371600"/>
            <a:ext cx="2444419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txBody>
          <a:bodyPr wrap="square" tIns="91440" bIns="91440">
            <a:spAutoFit/>
          </a:bodyPr>
          <a:lstStyle/>
          <a:p/>
          <a:p>
            <a:pPr algn="ctr">
              <a:spcAft>
                <a:spcPts val="400"/>
              </a:spcAft>
              <a:defRPr sz="2800">
                <a:solidFill>
                  <a:srgbClr val="555555"/>
                </a:solidFill>
              </a:defRPr>
            </a:pPr>
            <a:r>
              <a:t>✂️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555555"/>
                </a:solidFill>
              </a:defRPr>
            </a:pPr>
            <a:r>
              <a:t>Filter Clients</a:t>
            </a: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t>Keep clients with ≥2 products</a:t>
            </a: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t>Reason:</a:t>
            </a: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t>Need history to learn from</a:t>
            </a: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t>Result: 388K+ clients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3383280"/>
            <a:ext cx="11240719" cy="548640"/>
          </a:xfrm>
          <a:prstGeom prst="rect">
            <a:avLst/>
          </a:prstGeom>
          <a:solidFill>
            <a:srgbClr val="F8F9FA"/>
          </a:solidFill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667EEA"/>
                </a:solidFill>
              </a:defRPr>
            </a:pPr>
            <a:r>
              <a:t>🎓 Creating Training Examples - The Sliding Window Approach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182880"/>
            <a:ext cx="112407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🔧 Step 3: Feature Engineering - Teaching the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1371600"/>
            <a:ext cx="11240719" cy="548640"/>
          </a:xfrm>
          <a:prstGeom prst="rect">
            <a:avLst/>
          </a:prstGeom>
          <a:solidFill>
            <a:srgbClr val="F8F9FA"/>
          </a:solidFill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667EEA"/>
                </a:solidFill>
              </a:defRPr>
            </a:pPr>
            <a:r>
              <a:t>What Information Do We Give the Model?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2011680"/>
            <a:ext cx="3533546" cy="1371600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📜 Purchase History (10 slots)</a:t>
            </a:r>
          </a:p>
          <a:p>
            <a:r>
              <a:t>Last 10 products purchased in order </a:t>
            </a:r>
          </a:p>
          <a:p>
            <a:r>
              <a:t> Example: [Empty, Empty, Empty, Empty, Empty, Empty, Empty, Retirement, Life, Investment]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83354" y="2011680"/>
            <a:ext cx="3533546" cy="1371600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📊 Sequence Statistics (5 features)</a:t>
            </a:r>
          </a:p>
          <a:p>
            <a:r>
              <a:t>• How many products in history? </a:t>
            </a:r>
          </a:p>
          <a:p>
            <a:r>
              <a:t> • What was the last product? </a:t>
            </a:r>
          </a:p>
          <a:p>
            <a:r>
              <a:t> • What was before that? </a:t>
            </a:r>
          </a:p>
          <a:p>
            <a:r>
              <a:t> • How many different products tried? </a:t>
            </a:r>
          </a:p>
          <a:p>
            <a:r>
              <a:t> • How many times did they switch products?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1220" y="2011680"/>
            <a:ext cx="3533546" cy="1371600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🔢 Product Frequencies (7 features)</a:t>
            </a:r>
          </a:p>
          <a:p>
            <a:r>
              <a:t>Count how many times each product category appears </a:t>
            </a:r>
          </a:p>
          <a:p>
            <a:r>
              <a:t> Example: Retirement: 2 times, Life: 1 time, Investment: 0 times...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3520440"/>
            <a:ext cx="3533546" cy="1371600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💰 Financial Profile (11 features)</a:t>
            </a:r>
          </a:p>
          <a:p>
            <a:r>
              <a:t>Account values, total assets, how money is invested (stocks %, bonds %, mutual funds %, annuities 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83354" y="3520440"/>
            <a:ext cx="3533546" cy="1371600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👤 Demographics (1 feature)</a:t>
            </a:r>
          </a:p>
          <a:p>
            <a:r>
              <a:t>Client age - important for life stage targeting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1220" y="3520440"/>
            <a:ext cx="3533546" cy="1371600"/>
          </a:xfrm>
          <a:prstGeom prst="rect">
            <a:avLst/>
          </a:prstGeom>
          <a:solidFill>
            <a:srgbClr val="F5F7FA"/>
          </a:solidFill>
          <a:ln w="50800">
            <a:solidFill>
              <a:srgbClr val="667EEA"/>
            </a:solidFill>
          </a:ln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🏢 Business Context (6 features)</a:t>
            </a:r>
          </a:p>
          <a:p>
            <a:r>
              <a:t>Client segment, AUM band, preferred channel (Advisor/Direct/Online), agent segment, branch office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5029200"/>
            <a:ext cx="3533546" cy="1097280"/>
          </a:xfrm>
          <a:prstGeom prst="rect">
            <a:avLst/>
          </a:prstGeom>
          <a:solidFill>
            <a:srgbClr val="11998E"/>
          </a:solidFill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39</a:t>
            </a:r>
          </a:p>
          <a:p>
            <a:r>
              <a:t>Total Features Used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83354" y="5029200"/>
            <a:ext cx="3533546" cy="1097280"/>
          </a:xfrm>
          <a:prstGeom prst="rect">
            <a:avLst/>
          </a:prstGeom>
          <a:solidFill>
            <a:srgbClr val="11998E"/>
          </a:solidFill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464K+</a:t>
            </a:r>
          </a:p>
          <a:p>
            <a:r>
              <a:t>Training Examples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1220" y="5029200"/>
            <a:ext cx="3533546" cy="1097280"/>
          </a:xfrm>
          <a:prstGeom prst="rect">
            <a:avLst/>
          </a:prstGeom>
          <a:solidFill>
            <a:srgbClr val="11998E"/>
          </a:solidFill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80/10/10</a:t>
            </a:r>
          </a:p>
          <a:p>
            <a:r>
              <a:t>Train/Validation/Test Split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475488"/>
            <a:ext cx="112407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667EEA"/>
                </a:solidFill>
              </a:defRPr>
            </a:pPr>
            <a:r>
              <a:t>🔧 Step 3: Feature Engineering - Teaching the Model (cont'd)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1389888"/>
            <a:ext cx="11240719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667EEA"/>
            </a:solidFill>
          </a:ln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</a:p>
          <a:p>
            <a:r>
              <a:t>Why Split the Data? </a:t>
            </a:r>
          </a:p>
          <a:p>
            <a:r>
              <a:t> • 80% Training: Model learns patterns from this data </a:t>
            </a:r>
          </a:p>
          <a:p>
            <a:r>
              <a:t> • 10% Validation: Check if model is learning correctly (prevents overfitting) </a:t>
            </a:r>
          </a:p>
          <a:p>
            <a:r>
              <a:t> • 10% Test: Final exam - see how well model performs on completely unseen data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182880"/>
            <a:ext cx="112407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🧠 Step 4: Model Training - How the Model Learns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1371600"/>
            <a:ext cx="3411626" cy="1828800"/>
          </a:xfrm>
          <a:prstGeom prst="rect">
            <a:avLst/>
          </a:prstGeom>
          <a:solidFill>
            <a:srgbClr val="667EEA"/>
          </a:solidFill>
          <a:ln w="25400">
            <a:solidFill>
              <a:srgbClr val="667EEA"/>
            </a:solidFill>
          </a:ln>
        </p:spPr>
        <p:txBody>
          <a:bodyPr wrap="square" tIns="91440" bIns="91440">
            <a:spAutoFit/>
          </a:bodyPr>
          <a:lstStyle/>
          <a:p/>
          <a:p>
            <a:pPr algn="ctr">
              <a:spcAft>
                <a:spcPts val="400"/>
              </a:spcAft>
              <a:defRPr sz="2800">
                <a:solidFill>
                  <a:srgbClr val="FFFFFF"/>
                </a:solidFill>
              </a:defRPr>
            </a:pPr>
            <a:r>
              <a:t>📚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FFFFFF"/>
                </a:solidFill>
              </a:defRPr>
            </a:pPr>
            <a:r>
              <a:t>Load Training Data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464,400 examples with 39 features each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Each example = a moment in a client's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95674" y="21031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t>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1371600"/>
            <a:ext cx="3411626" cy="1828800"/>
          </a:xfrm>
          <a:prstGeom prst="rect">
            <a:avLst/>
          </a:prstGeom>
          <a:solidFill>
            <a:srgbClr val="667EEA"/>
          </a:solidFill>
          <a:ln w="25400">
            <a:solidFill>
              <a:srgbClr val="667EEA"/>
            </a:solidFill>
          </a:ln>
        </p:spPr>
        <p:txBody>
          <a:bodyPr wrap="square" tIns="91440" bIns="91440">
            <a:spAutoFit/>
          </a:bodyPr>
          <a:lstStyle/>
          <a:p/>
          <a:p>
            <a:pPr algn="ctr">
              <a:spcAft>
                <a:spcPts val="400"/>
              </a:spcAft>
              <a:defRPr sz="2800">
                <a:solidFill>
                  <a:srgbClr val="FFFFFF"/>
                </a:solidFill>
              </a:defRPr>
            </a:pPr>
            <a:r>
              <a:t>🌳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FFFFFF"/>
                </a:solidFill>
              </a:defRPr>
            </a:pPr>
            <a:r>
              <a:t>LightGBM Algorithm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Builds decision trees: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"If age &gt; 50 AND has Retirement → likely needs Life Insurance"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Builds 2,000 trees, each learning from previous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2874" y="21031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9888" y="1371600"/>
            <a:ext cx="3411626" cy="1828800"/>
          </a:xfrm>
          <a:prstGeom prst="rect">
            <a:avLst/>
          </a:prstGeom>
          <a:solidFill>
            <a:srgbClr val="667EEA"/>
          </a:solidFill>
          <a:ln w="25400">
            <a:solidFill>
              <a:srgbClr val="667EEA"/>
            </a:solidFill>
          </a:ln>
        </p:spPr>
        <p:txBody>
          <a:bodyPr wrap="square" tIns="91440" bIns="91440">
            <a:spAutoFit/>
          </a:bodyPr>
          <a:lstStyle/>
          <a:p/>
          <a:p>
            <a:pPr algn="ctr">
              <a:spcAft>
                <a:spcPts val="400"/>
              </a:spcAft>
              <a:defRPr sz="2800">
                <a:solidFill>
                  <a:srgbClr val="FFFFFF"/>
                </a:solidFill>
              </a:defRPr>
            </a:pPr>
            <a:r>
              <a:t>🎯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FFFFFF"/>
                </a:solidFill>
              </a:defRPr>
            </a:pPr>
            <a:r>
              <a:t>Multi-Class Prediction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For each client, predicts probability for ALL 7 products: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Life Insurance: 65%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Investment: 20%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Retirement: 10%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</a:defRPr>
            </a:pPr>
            <a:r>
              <a:t>Others: 5%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